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3" roundtripDataSignature="AMtx7mjl1iOLBhR9CFqiDFtgUI936Y/I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901A4B-B1C0-4A90-844B-E4A0DC7FD885}">
  <a:tblStyle styleId="{64901A4B-B1C0-4A90-844B-E4A0DC7FD88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customschemas.google.com/relationships/presentationmetadata" Target="meta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6" name="Google Shape;92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2" name="Google Shape;109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3" name="Google Shape;111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8" name="Google Shape;115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4" name="Google Shape;118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3" name="Google Shape;120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3" name="Google Shape;121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4" name="Google Shape;1254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3" name="Google Shape;1273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7" name="Google Shape;131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5" name="Google Shape;134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5" name="Google Shape;135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1" name="Google Shape;137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1" name="Google Shape;141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8" name="Google Shape;143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2" name="Google Shape;1462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3" name="Google Shape;147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9"/>
          <p:cNvSpPr txBox="1"/>
          <p:nvPr>
            <p:ph idx="1" type="body"/>
          </p:nvPr>
        </p:nvSpPr>
        <p:spPr>
          <a:xfrm>
            <a:off x="822960" y="1371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9"/>
          <p:cNvSpPr txBox="1"/>
          <p:nvPr>
            <p:ph type="title"/>
          </p:nvPr>
        </p:nvSpPr>
        <p:spPr>
          <a:xfrm>
            <a:off x="822960" y="201168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  <a:defRPr b="1" i="0" sz="6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69"/>
          <p:cNvSpPr txBox="1"/>
          <p:nvPr>
            <p:ph idx="2" type="body"/>
          </p:nvPr>
        </p:nvSpPr>
        <p:spPr>
          <a:xfrm>
            <a:off x="822960" y="370332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None/>
              <a:defRPr b="0" i="1" sz="2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69"/>
          <p:cNvSpPr txBox="1"/>
          <p:nvPr>
            <p:ph idx="3" type="body"/>
          </p:nvPr>
        </p:nvSpPr>
        <p:spPr>
          <a:xfrm>
            <a:off x="822960" y="50292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IT-30001 Cyber Security  ·  Module 3  ·  Web Server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70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70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70"/>
          <p:cNvSpPr txBox="1"/>
          <p:nvPr>
            <p:ph idx="12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DIVIDER">
    <p:bg>
      <p:bgPr>
        <a:solidFill>
          <a:schemeClr val="dk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IT-30001 Cyber Security  ·  Module 3  ·  Web Server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71"/>
          <p:cNvSpPr txBox="1"/>
          <p:nvPr>
            <p:ph type="title"/>
          </p:nvPr>
        </p:nvSpPr>
        <p:spPr>
          <a:xfrm>
            <a:off x="822960" y="274320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  <a:defRPr b="1" i="0" sz="3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71"/>
          <p:cNvSpPr txBox="1"/>
          <p:nvPr>
            <p:ph idx="1" type="body"/>
          </p:nvPr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71"/>
          <p:cNvSpPr txBox="1"/>
          <p:nvPr>
            <p:ph idx="12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8"/>
          <p:cNvSpPr txBox="1"/>
          <p:nvPr>
            <p:ph idx="12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34.png"/><Relationship Id="rId5" Type="http://schemas.openxmlformats.org/officeDocument/2006/relationships/image" Target="../media/image8.png"/><Relationship Id="rId6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Relationship Id="rId6" Type="http://schemas.openxmlformats.org/officeDocument/2006/relationships/image" Target="../media/image52.png"/><Relationship Id="rId7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9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1.png"/><Relationship Id="rId4" Type="http://schemas.openxmlformats.org/officeDocument/2006/relationships/image" Target="../media/image3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33.png"/><Relationship Id="rId6" Type="http://schemas.openxmlformats.org/officeDocument/2006/relationships/image" Target="../media/image8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81.png"/><Relationship Id="rId6" Type="http://schemas.openxmlformats.org/officeDocument/2006/relationships/image" Target="../media/image7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82.png"/><Relationship Id="rId5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3.png"/><Relationship Id="rId4" Type="http://schemas.openxmlformats.org/officeDocument/2006/relationships/image" Target="../media/image5.png"/><Relationship Id="rId5" Type="http://schemas.openxmlformats.org/officeDocument/2006/relationships/image" Target="../media/image8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7.png"/><Relationship Id="rId4" Type="http://schemas.openxmlformats.org/officeDocument/2006/relationships/image" Target="../media/image9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0.png"/><Relationship Id="rId4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5.png"/><Relationship Id="rId4" Type="http://schemas.openxmlformats.org/officeDocument/2006/relationships/image" Target="../media/image89.png"/><Relationship Id="rId5" Type="http://schemas.openxmlformats.org/officeDocument/2006/relationships/image" Target="../media/image95.png"/><Relationship Id="rId6" Type="http://schemas.openxmlformats.org/officeDocument/2006/relationships/image" Target="../media/image9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3.png"/><Relationship Id="rId4" Type="http://schemas.openxmlformats.org/officeDocument/2006/relationships/image" Target="../media/image92.png"/><Relationship Id="rId5" Type="http://schemas.openxmlformats.org/officeDocument/2006/relationships/image" Target="../media/image1.png"/><Relationship Id="rId6" Type="http://schemas.openxmlformats.org/officeDocument/2006/relationships/image" Target="../media/image9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Relationship Id="rId4" Type="http://schemas.openxmlformats.org/officeDocument/2006/relationships/image" Target="../media/image101.png"/><Relationship Id="rId5" Type="http://schemas.openxmlformats.org/officeDocument/2006/relationships/image" Target="../media/image104.png"/><Relationship Id="rId6" Type="http://schemas.openxmlformats.org/officeDocument/2006/relationships/image" Target="../media/image10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Relationship Id="rId4" Type="http://schemas.openxmlformats.org/officeDocument/2006/relationships/image" Target="../media/image111.png"/><Relationship Id="rId5" Type="http://schemas.openxmlformats.org/officeDocument/2006/relationships/image" Target="../media/image2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11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5.png"/><Relationship Id="rId4" Type="http://schemas.openxmlformats.org/officeDocument/2006/relationships/image" Target="../media/image9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0.png"/><Relationship Id="rId4" Type="http://schemas.openxmlformats.org/officeDocument/2006/relationships/image" Target="../media/image119.png"/><Relationship Id="rId5" Type="http://schemas.openxmlformats.org/officeDocument/2006/relationships/image" Target="../media/image117.png"/><Relationship Id="rId6" Type="http://schemas.openxmlformats.org/officeDocument/2006/relationships/image" Target="../media/image13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5.png"/><Relationship Id="rId4" Type="http://schemas.openxmlformats.org/officeDocument/2006/relationships/image" Target="../media/image1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2.png"/><Relationship Id="rId4" Type="http://schemas.openxmlformats.org/officeDocument/2006/relationships/image" Target="../media/image136.png"/><Relationship Id="rId5" Type="http://schemas.openxmlformats.org/officeDocument/2006/relationships/image" Target="../media/image12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8.png"/><Relationship Id="rId4" Type="http://schemas.openxmlformats.org/officeDocument/2006/relationships/image" Target="../media/image123.png"/><Relationship Id="rId5" Type="http://schemas.openxmlformats.org/officeDocument/2006/relationships/image" Target="../media/image90.png"/><Relationship Id="rId6" Type="http://schemas.openxmlformats.org/officeDocument/2006/relationships/image" Target="../media/image12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4.png"/><Relationship Id="rId4" Type="http://schemas.openxmlformats.org/officeDocument/2006/relationships/image" Target="../media/image102.png"/><Relationship Id="rId5" Type="http://schemas.openxmlformats.org/officeDocument/2006/relationships/image" Target="../media/image141.png"/><Relationship Id="rId6" Type="http://schemas.openxmlformats.org/officeDocument/2006/relationships/image" Target="../media/image6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2.png"/><Relationship Id="rId4" Type="http://schemas.openxmlformats.org/officeDocument/2006/relationships/image" Target="../media/image139.png"/><Relationship Id="rId5" Type="http://schemas.openxmlformats.org/officeDocument/2006/relationships/image" Target="../media/image3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idx="1" type="body"/>
          </p:nvPr>
        </p:nvSpPr>
        <p:spPr>
          <a:xfrm>
            <a:off x="822960" y="1371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CYBER SECURITY · IT-30001 · MODULE 3 · APPLICATION SECURITY</a:t>
            </a:r>
            <a:endParaRPr sz="1400"/>
          </a:p>
        </p:txBody>
      </p:sp>
      <p:sp>
        <p:nvSpPr>
          <p:cNvPr id="33" name="Google Shape;33;p1"/>
          <p:cNvSpPr txBox="1"/>
          <p:nvPr>
            <p:ph type="title"/>
          </p:nvPr>
        </p:nvSpPr>
        <p:spPr>
          <a:xfrm>
            <a:off x="822960" y="201168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chemeClr val="lt1"/>
                </a:solidFill>
              </a:rPr>
              <a:t>Web Server Security</a:t>
            </a:r>
            <a:endParaRPr sz="6000"/>
          </a:p>
        </p:txBody>
      </p:sp>
      <p:sp>
        <p:nvSpPr>
          <p:cNvPr id="34" name="Google Shape;34;p1"/>
          <p:cNvSpPr txBox="1"/>
          <p:nvPr>
            <p:ph idx="2" type="body"/>
          </p:nvPr>
        </p:nvSpPr>
        <p:spPr>
          <a:xfrm>
            <a:off x="822960" y="370332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</a:pPr>
            <a:r>
              <a:rPr i="1" lang="en-US" sz="2100">
                <a:solidFill>
                  <a:schemeClr val="accent6"/>
                </a:solidFill>
              </a:rPr>
              <a:t>Four injection-class web attacks and their defenses</a:t>
            </a:r>
            <a:endParaRPr sz="2100"/>
          </a:p>
        </p:txBody>
      </p:sp>
      <p:sp>
        <p:nvSpPr>
          <p:cNvPr id="35" name="Google Shape;35;p1"/>
          <p:cNvSpPr txBox="1"/>
          <p:nvPr>
            <p:ph idx="3" type="body"/>
          </p:nvPr>
        </p:nvSpPr>
        <p:spPr>
          <a:xfrm>
            <a:off x="822960" y="50292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-US" sz="1500">
                <a:solidFill>
                  <a:schemeClr val="lt1"/>
                </a:solidFill>
              </a:rPr>
              <a:t>Dr. Soumyadev Maity</a:t>
            </a:r>
            <a:endParaRPr sz="15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sz="1500">
                <a:solidFill>
                  <a:schemeClr val="lt1"/>
                </a:solidFill>
              </a:rPr>
              <a:t>Department of Information Technology, IIIT Allahabad</a:t>
            </a:r>
            <a:endParaRPr sz="15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sz="1500">
                <a:solidFill>
                  <a:schemeClr val="lt1"/>
                </a:solidFill>
              </a:rPr>
              <a:t>Module 3: Application Security  ·  Autumn 2026</a:t>
            </a:r>
            <a:endParaRPr sz="1500"/>
          </a:p>
        </p:txBody>
      </p:sp>
      <p:sp>
        <p:nvSpPr>
          <p:cNvPr id="36" name="Google Shape;36;p1"/>
          <p:cNvSpPr/>
          <p:nvPr/>
        </p:nvSpPr>
        <p:spPr>
          <a:xfrm>
            <a:off x="8869680" y="1828800"/>
            <a:ext cx="2743200" cy="274320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ield" id="37" name="Google Shape;3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0" y="2560320"/>
            <a:ext cx="1280160" cy="1280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AGENDA</a:t>
            </a:r>
            <a:endParaRPr sz="1200"/>
          </a:p>
        </p:txBody>
      </p:sp>
      <p:sp>
        <p:nvSpPr>
          <p:cNvPr id="44" name="Google Shape;44;p2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Four attacks, one recurring theme</a:t>
            </a:r>
            <a:endParaRPr sz="3200"/>
          </a:p>
        </p:txBody>
      </p:sp>
      <p:sp>
        <p:nvSpPr>
          <p:cNvPr id="45" name="Google Shape;45;p2"/>
          <p:cNvSpPr/>
          <p:nvPr/>
        </p:nvSpPr>
        <p:spPr>
          <a:xfrm>
            <a:off x="548640" y="1783080"/>
            <a:ext cx="11091672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atabase" id="47" name="Google Shape;4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354" y="20976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 txBox="1"/>
          <p:nvPr/>
        </p:nvSpPr>
        <p:spPr>
          <a:xfrm>
            <a:off x="1645920" y="17830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1.  SQL Injection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6492240" y="178308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escapes into the database query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2834640"/>
            <a:ext cx="11091672" cy="9144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48640" y="2834640"/>
            <a:ext cx="11091672" cy="914400"/>
          </a:xfrm>
          <a:prstGeom prst="roundRect">
            <a:avLst>
              <a:gd fmla="val 8000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68680" y="3017520"/>
            <a:ext cx="548640" cy="5486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erminal" id="53" name="Google Shape;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354" y="31491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/>
        </p:nvSpPr>
        <p:spPr>
          <a:xfrm>
            <a:off x="1645920" y="28346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2.  OS Command Injection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6492240" y="283464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escapes into the operating-system shell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8640" y="3886200"/>
            <a:ext cx="11091672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de" id="58" name="Google Shape;5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354" y="42007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 txBox="1"/>
          <p:nvPr/>
        </p:nvSpPr>
        <p:spPr>
          <a:xfrm>
            <a:off x="1645920" y="38862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3.  Cross-Site Scripting (XSS)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6492240" y="388620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runs as script in another user's browser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fmla="val 8000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68680" y="51206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ExchangeAlt" id="64" name="Google Shape;6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354" y="5252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1645920" y="49377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4.  Cross-Site Request Forgery (CSRF)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6492240" y="4937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forged request rides the victim's session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48640" y="5943600"/>
            <a:ext cx="11091672" cy="365760"/>
          </a:xfrm>
          <a:prstGeom prst="roundRect">
            <a:avLst>
              <a:gd fmla="val 2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Recurring theme: never let untrusted input become code, and prove a request's intent.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idx="1" type="body"/>
          </p:nvPr>
        </p:nvSpPr>
        <p:spPr>
          <a:xfrm>
            <a:off x="822960" y="1371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CYBER SECURITY · IT-30001 · MODULE 3 · WEB SERVER SECURITY</a:t>
            </a:r>
            <a:endParaRPr sz="1400"/>
          </a:p>
        </p:txBody>
      </p:sp>
      <p:sp>
        <p:nvSpPr>
          <p:cNvPr id="76" name="Google Shape;76;p3"/>
          <p:cNvSpPr txBox="1"/>
          <p:nvPr>
            <p:ph type="title"/>
          </p:nvPr>
        </p:nvSpPr>
        <p:spPr>
          <a:xfrm>
            <a:off x="822960" y="201168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chemeClr val="lt1"/>
                </a:solidFill>
              </a:rPr>
              <a:t>SQL Injection</a:t>
            </a:r>
            <a:endParaRPr sz="6000"/>
          </a:p>
        </p:txBody>
      </p:sp>
      <p:sp>
        <p:nvSpPr>
          <p:cNvPr id="77" name="Google Shape;77;p3"/>
          <p:cNvSpPr txBox="1"/>
          <p:nvPr>
            <p:ph idx="2" type="body"/>
          </p:nvPr>
        </p:nvSpPr>
        <p:spPr>
          <a:xfrm>
            <a:off x="822960" y="370332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</a:pPr>
            <a:r>
              <a:rPr i="1" lang="en-US" sz="2100">
                <a:solidFill>
                  <a:schemeClr val="accent6"/>
                </a:solidFill>
              </a:rPr>
              <a:t>When user input becomes part of the query</a:t>
            </a:r>
            <a:endParaRPr sz="2100"/>
          </a:p>
        </p:txBody>
      </p:sp>
      <p:sp>
        <p:nvSpPr>
          <p:cNvPr id="78" name="Google Shape;78;p3"/>
          <p:cNvSpPr txBox="1"/>
          <p:nvPr>
            <p:ph idx="3" type="body"/>
          </p:nvPr>
        </p:nvSpPr>
        <p:spPr>
          <a:xfrm>
            <a:off x="822960" y="50292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n-US" sz="1500">
                <a:solidFill>
                  <a:schemeClr val="lt1"/>
                </a:solidFill>
              </a:rPr>
              <a:t>Dr. Soumyadev Maity</a:t>
            </a:r>
            <a:endParaRPr sz="15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sz="1500">
                <a:solidFill>
                  <a:schemeClr val="lt1"/>
                </a:solidFill>
              </a:rPr>
              <a:t>Department of Information Technology, IIIT Allahabad</a:t>
            </a:r>
            <a:endParaRPr sz="15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sz="1500">
                <a:solidFill>
                  <a:schemeClr val="lt1"/>
                </a:solidFill>
              </a:rPr>
              <a:t>Module 3: Application Security  ·  Autumn 2026</a:t>
            </a:r>
            <a:endParaRPr sz="1500"/>
          </a:p>
        </p:txBody>
      </p:sp>
      <p:sp>
        <p:nvSpPr>
          <p:cNvPr id="79" name="Google Shape;79;p3"/>
          <p:cNvSpPr/>
          <p:nvPr/>
        </p:nvSpPr>
        <p:spPr>
          <a:xfrm>
            <a:off x="8869680" y="1828800"/>
            <a:ext cx="2743200" cy="274320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atabase"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6920" y="2542032"/>
            <a:ext cx="123444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DEFINITION</a:t>
            </a:r>
            <a:endParaRPr sz="1200"/>
          </a:p>
        </p:txBody>
      </p:sp>
      <p:sp>
        <p:nvSpPr>
          <p:cNvPr id="87" name="Google Shape;87;p4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is SQL injection?</a:t>
            </a:r>
            <a:endParaRPr sz="3200"/>
          </a:p>
        </p:txBody>
      </p:sp>
      <p:sp>
        <p:nvSpPr>
          <p:cNvPr id="88" name="Google Shape;88;p4"/>
          <p:cNvSpPr/>
          <p:nvPr/>
        </p:nvSpPr>
        <p:spPr>
          <a:xfrm>
            <a:off x="548640" y="1737360"/>
            <a:ext cx="6675120" cy="2286000"/>
          </a:xfrm>
          <a:prstGeom prst="roundRect">
            <a:avLst>
              <a:gd fmla="val 32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868680" y="1965960"/>
            <a:ext cx="6035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mbria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 application builds a database query with user input placed into the SQL text, </a:t>
            </a:r>
            <a:r>
              <a:rPr b="1" i="0" lang="en-US" sz="21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so the input can change what the query does.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498080" y="1737360"/>
            <a:ext cx="4142232" cy="1078992"/>
          </a:xfrm>
          <a:prstGeom prst="roundRect">
            <a:avLst>
              <a:gd fmla="val 6780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699248" y="1956816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Hashtag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976" y="20665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 txBox="1"/>
          <p:nvPr/>
        </p:nvSpPr>
        <p:spPr>
          <a:xfrm>
            <a:off x="8321040" y="18288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CWE-89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Improper neutralization of SQL elements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498080" y="2944368"/>
            <a:ext cx="4142232" cy="1078992"/>
          </a:xfrm>
          <a:prstGeom prst="roundRect">
            <a:avLst>
              <a:gd fmla="val 678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699248" y="3163824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istOl" id="96" name="Google Shape;9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8976" y="32735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 txBox="1"/>
          <p:nvPr/>
        </p:nvSpPr>
        <p:spPr>
          <a:xfrm>
            <a:off x="8321040" y="3035808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OWASP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Top-10 category as command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Same disease, different interpreter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atabase" id="101" name="Google Shape;10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914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1508760" y="4937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SQL injection  —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escapes into SQL syntax, interpreted by the database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263640" y="4983480"/>
            <a:ext cx="548640" cy="5486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erminal" id="104" name="Google Shape;10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5314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6995160" y="4937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Command injection  —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escapes into shell syntax, interpreted by the OS shell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ROOT CAUSE</a:t>
            </a:r>
            <a:endParaRPr sz="1200"/>
          </a:p>
        </p:txBody>
      </p:sp>
      <p:sp>
        <p:nvSpPr>
          <p:cNvPr id="113" name="Google Shape;113;p5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Mixing code and data in one query string</a:t>
            </a:r>
            <a:endParaRPr sz="3200"/>
          </a:p>
        </p:txBody>
      </p:sp>
      <p:sp>
        <p:nvSpPr>
          <p:cNvPr id="114" name="Google Shape;114;p5"/>
          <p:cNvSpPr txBox="1"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program concatenates fixed SQL with user input into one string and sends it to the database. The database cannot tell the developer's SQL from the user's data.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characters that do the damage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30175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31520" y="3246120"/>
            <a:ext cx="128016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731520" y="32461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2148840" y="32461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closes a string literal early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315968" y="30175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498848" y="3246120"/>
            <a:ext cx="128016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498848" y="32461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5916168" y="32461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comments out the rest of the 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083296" y="30175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8266176" y="3246120"/>
            <a:ext cx="128016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8266176" y="32461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/* */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9683496" y="32461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comments out a block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48640" y="43891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731520" y="4617720"/>
            <a:ext cx="128016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731520" y="46177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OR 1=1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2148840" y="46177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makes a condition always 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315968" y="43891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498848" y="4617720"/>
            <a:ext cx="128016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4498848" y="46177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UNION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5916168" y="46177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a second result 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083296" y="43891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266176" y="4617720"/>
            <a:ext cx="128016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8266176" y="46177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9683496" y="4617720"/>
            <a:ext cx="1783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ends one statement, starts another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EXAMPLE</a:t>
            </a:r>
            <a:endParaRPr sz="1200"/>
          </a:p>
        </p:txBody>
      </p:sp>
      <p:sp>
        <p:nvSpPr>
          <p:cNvPr id="147" name="Google Shape;147;p6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A vulnerable login</a:t>
            </a:r>
            <a:endParaRPr sz="3200"/>
          </a:p>
        </p:txBody>
      </p:sp>
      <p:sp>
        <p:nvSpPr>
          <p:cNvPr id="148" name="Google Shape;148;p6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login checks credentials by building the query from the submitted username and password.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Server (Node.js, string-built query)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48640" y="2560320"/>
            <a:ext cx="11091672" cy="1828800"/>
          </a:xfrm>
          <a:prstGeom prst="roundRect">
            <a:avLst>
              <a:gd fmla="val 4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777240" y="2706624"/>
            <a:ext cx="1063447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 sql =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"SELECT * FROM users WHERE username = '" + user 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"' AND password = '" + pass + "'";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 rows = await db.query(sql);  </a:t>
            </a: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input inside the string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(rows.length) login(); else reject();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48640" y="4572000"/>
            <a:ext cx="5440680" cy="1325880"/>
          </a:xfrm>
          <a:prstGeom prst="roundRect">
            <a:avLst>
              <a:gd fmla="val 55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731520" y="4572000"/>
            <a:ext cx="51206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Normal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user = asha   pass = s3cret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WHERE username='asha' AND password='s3cret'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199632" y="4572000"/>
            <a:ext cx="5440680" cy="1325880"/>
          </a:xfrm>
          <a:prstGeom prst="roundRect">
            <a:avLst>
              <a:gd fmla="val 5517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6382512" y="4572000"/>
            <a:ext cx="51206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Crafted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user = admin'--    pass = (anything)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WHERE username='admin'-- ' AND password='...'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EXAMPLE</a:t>
            </a:r>
            <a:endParaRPr sz="1200"/>
          </a:p>
        </p:txBody>
      </p:sp>
      <p:sp>
        <p:nvSpPr>
          <p:cNvPr id="163" name="Google Shape;163;p7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How the input rewrites the query</a:t>
            </a:r>
            <a:endParaRPr sz="3200"/>
          </a:p>
        </p:txBody>
      </p:sp>
      <p:sp>
        <p:nvSpPr>
          <p:cNvPr id="164" name="Google Shape;164;p7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Trace what the database actually parses.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143000" y="2194560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Authentication bypass with a comment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48640" y="2697480"/>
            <a:ext cx="11091672" cy="1371600"/>
          </a:xfrm>
          <a:prstGeom prst="roundRect">
            <a:avLst>
              <a:gd fmla="val 533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777240" y="2843784"/>
            <a:ext cx="1063447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input:  username = admin'--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query:  SELECT * FROM users WHERE username='admin'-- ' AND password='x'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the quote ends the string, -- comments out the password check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48640" y="4114800"/>
            <a:ext cx="11091672" cy="502920"/>
          </a:xfrm>
          <a:prstGeom prst="roundRect">
            <a:avLst>
              <a:gd fmla="val 1454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731520" y="411480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Result: 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database selects the admin row and the login succeeds with no valid password.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48640" y="4846320"/>
            <a:ext cx="420624" cy="420624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548640" y="48463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1143000" y="4846320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Making the condition always true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48640" y="5349240"/>
            <a:ext cx="11091672" cy="1005840"/>
          </a:xfrm>
          <a:prstGeom prst="roundRect">
            <a:avLst>
              <a:gd fmla="val 727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777240" y="5495544"/>
            <a:ext cx="1063447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input:  username = ' OR '1'='1'--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query:  SELECT * FROM users WHERE username='' OR '1'='1'-- ' AND 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/>
          <p:nvPr>
            <p:ph type="title"/>
          </p:nvPr>
        </p:nvSpPr>
        <p:spPr>
          <a:xfrm>
            <a:off x="822960" y="274320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chemeClr val="lt1"/>
                </a:solidFill>
              </a:rPr>
              <a:t>How attackers exploit it</a:t>
            </a:r>
            <a:endParaRPr sz="3800"/>
          </a:p>
        </p:txBody>
      </p:sp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</a:rPr>
              <a:t>Bypass logins, read other tables, and extract data blind</a:t>
            </a:r>
            <a:endParaRPr sz="1800"/>
          </a:p>
        </p:txBody>
      </p:sp>
      <p:sp>
        <p:nvSpPr>
          <p:cNvPr id="185" name="Google Shape;185;p8"/>
          <p:cNvSpPr/>
          <p:nvPr/>
        </p:nvSpPr>
        <p:spPr>
          <a:xfrm>
            <a:off x="8732520" y="1920240"/>
            <a:ext cx="2651760" cy="2651760"/>
          </a:xfrm>
          <a:prstGeom prst="ellipse">
            <a:avLst/>
          </a:prstGeom>
          <a:solidFill>
            <a:schemeClr val="dk2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ecret" id="186" name="Google Shape;1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0" y="260604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TECHNIQUES</a:t>
            </a:r>
            <a:endParaRPr sz="1200"/>
          </a:p>
        </p:txBody>
      </p:sp>
      <p:sp>
        <p:nvSpPr>
          <p:cNvPr id="194" name="Google Shape;194;p9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Four ways injection is used</a:t>
            </a:r>
            <a:endParaRPr sz="3200"/>
          </a:p>
        </p:txBody>
      </p:sp>
      <p:sp>
        <p:nvSpPr>
          <p:cNvPr id="195" name="Google Shape;195;p9"/>
          <p:cNvSpPr/>
          <p:nvPr/>
        </p:nvSpPr>
        <p:spPr>
          <a:xfrm>
            <a:off x="548640" y="1920240"/>
            <a:ext cx="2651760" cy="329184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1531620" y="2194560"/>
            <a:ext cx="685800" cy="685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nlockAlt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212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/>
        </p:nvSpPr>
        <p:spPr>
          <a:xfrm>
            <a:off x="731520" y="30632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Auth bypass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777240" y="356616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a WHERE clause to log in without valid credentials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364992" y="1920240"/>
            <a:ext cx="2651760" cy="329184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347972" y="2194560"/>
            <a:ext cx="685800" cy="685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tream" id="202" name="Google Shape;2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564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/>
          <p:nvPr/>
        </p:nvSpPr>
        <p:spPr>
          <a:xfrm>
            <a:off x="3547872" y="30632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UNION-based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3593592" y="356616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 a second SELECT to read data from other tables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181344" y="1920240"/>
            <a:ext cx="2651760" cy="329184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7164324" y="2194560"/>
            <a:ext cx="685800" cy="685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ExclamationTriangle" id="207" name="Google Shape;20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8916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 txBox="1"/>
          <p:nvPr/>
        </p:nvSpPr>
        <p:spPr>
          <a:xfrm>
            <a:off x="6364224" y="30632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Error-based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6409944" y="356616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data leaked in database error messages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997696" y="1920240"/>
            <a:ext cx="2651760" cy="329184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9980676" y="2194560"/>
            <a:ext cx="685800" cy="68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Question" id="212" name="Google Shape;21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5268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 txBox="1"/>
          <p:nvPr/>
        </p:nvSpPr>
        <p:spPr>
          <a:xfrm>
            <a:off x="9180576" y="30632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Blind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9226296" y="356616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 data bit by bit via true/false answers or time delays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48640" y="5486400"/>
            <a:ext cx="11091672" cy="502920"/>
          </a:xfrm>
          <a:prstGeom prst="roundRect">
            <a:avLst>
              <a:gd fmla="val 145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Severity: SQLi can read, modify or destroy whole databases, bypass authentication, and sometimes reach the 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TECHNIQUE · UNION</a:t>
            </a:r>
            <a:endParaRPr sz="1200"/>
          </a:p>
        </p:txBody>
      </p:sp>
      <p:sp>
        <p:nvSpPr>
          <p:cNvPr id="224" name="Google Shape;224;p10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UNION-based extraction</a:t>
            </a:r>
            <a:endParaRPr sz="3200"/>
          </a:p>
        </p:txBody>
      </p:sp>
      <p:sp>
        <p:nvSpPr>
          <p:cNvPr id="225" name="Google Shape;225;p10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UNION appends a second query's rows. If the page shows results, the attacker reads other tables through 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48640" y="2286000"/>
            <a:ext cx="11091672" cy="2331720"/>
          </a:xfrm>
          <a:prstGeom prst="roundRect">
            <a:avLst>
              <a:gd fmla="val 31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777240" y="2432304"/>
            <a:ext cx="10634472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-- a product search:  /items?category=&lt;input&gt;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SELECT name, price FROM items WHERE category = 'books'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-- injected input:  books' UNION SELECT username, password_hash FROM users--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SELECT name, price FROM items WHERE category = 'books'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UNION SELECT username, password_hash FROM users-- 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" y="4800600"/>
            <a:ext cx="5440680" cy="1234440"/>
          </a:xfrm>
          <a:prstGeom prst="roundRect">
            <a:avLst>
              <a:gd fmla="val 59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lumns" id="230" name="Google Shape;2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51499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 txBox="1"/>
          <p:nvPr/>
        </p:nvSpPr>
        <p:spPr>
          <a:xfrm>
            <a:off x="1417320" y="4892040"/>
            <a:ext cx="4434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Match the columns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injected SELECT must return the same number of columns, of compatible types.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199632" y="4800600"/>
            <a:ext cx="5440680" cy="1234440"/>
          </a:xfrm>
          <a:prstGeom prst="roundRect">
            <a:avLst>
              <a:gd fmla="val 59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428232" y="5029200"/>
            <a:ext cx="502920" cy="5029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earch" id="234" name="Google Shape;23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8933" y="51499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 txBox="1"/>
          <p:nvPr/>
        </p:nvSpPr>
        <p:spPr>
          <a:xfrm>
            <a:off x="7068312" y="4892040"/>
            <a:ext cx="4434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Find the count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Attackers probe with ORDER BY n or UNION SELECT NULL,NULL,... to learn the column count.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TECHNIQUE · BLIND</a:t>
            </a:r>
            <a:endParaRPr sz="1200"/>
          </a:p>
        </p:txBody>
      </p:sp>
      <p:sp>
        <p:nvSpPr>
          <p:cNvPr id="243" name="Google Shape;243;p11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Blind injection: no data, no errors shown</a:t>
            </a:r>
            <a:endParaRPr sz="3200"/>
          </a:p>
        </p:txBody>
      </p:sp>
      <p:sp>
        <p:nvSpPr>
          <p:cNvPr id="244" name="Google Shape;244;p11"/>
          <p:cNvSpPr/>
          <p:nvPr/>
        </p:nvSpPr>
        <p:spPr>
          <a:xfrm>
            <a:off x="548640" y="1737360"/>
            <a:ext cx="5440680" cy="4343400"/>
          </a:xfrm>
          <a:prstGeom prst="roundRect">
            <a:avLst>
              <a:gd fmla="val 168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oggleOn" id="246" name="Google Shape;2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606" y="21086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 txBox="1"/>
          <p:nvPr/>
        </p:nvSpPr>
        <p:spPr>
          <a:xfrm>
            <a:off x="1600200" y="201168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Boolean-based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822960" y="2697480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 a condition; watch whether the page differs between true and false.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822960" y="3337560"/>
            <a:ext cx="4892040" cy="1143000"/>
          </a:xfrm>
          <a:prstGeom prst="roundRect">
            <a:avLst>
              <a:gd fmla="val 64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1051560" y="3483864"/>
            <a:ext cx="443484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id = 5 AND SUBSTRING(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(SELECT password FROM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WHERE id=1),1,1) = 'a'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822960" y="4617720"/>
            <a:ext cx="4892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'true' page differs from the 'false' page, the guessed character is right. One bit at a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199632" y="1737360"/>
            <a:ext cx="5440680" cy="4343400"/>
          </a:xfrm>
          <a:prstGeom prst="roundRect">
            <a:avLst>
              <a:gd fmla="val 168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6473952" y="1965960"/>
            <a:ext cx="594360" cy="5943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lock" id="254" name="Google Shape;2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6598" y="21086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 txBox="1"/>
          <p:nvPr/>
        </p:nvSpPr>
        <p:spPr>
          <a:xfrm>
            <a:off x="7251192" y="201168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Time-based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6473952" y="2697480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 a conditional delay; measure the response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473952" y="3337560"/>
            <a:ext cx="4892040" cy="1143000"/>
          </a:xfrm>
          <a:prstGeom prst="roundRect">
            <a:avLst>
              <a:gd fmla="val 64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 txBox="1"/>
          <p:nvPr/>
        </p:nvSpPr>
        <p:spPr>
          <a:xfrm>
            <a:off x="6702552" y="3483864"/>
            <a:ext cx="443484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id = 5 AND IF(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SUBSTRING(...)='a',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SLEEP(5), 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6473952" y="4617720"/>
            <a:ext cx="4892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slow response means the condition was true. Works even when the page never changes.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IMPACT</a:t>
            </a:r>
            <a:endParaRPr sz="1200"/>
          </a:p>
        </p:txBody>
      </p:sp>
      <p:sp>
        <p:nvSpPr>
          <p:cNvPr id="267" name="Google Shape;267;p12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Why SQL injection is dangerous</a:t>
            </a:r>
            <a:endParaRPr sz="3200"/>
          </a:p>
        </p:txBody>
      </p:sp>
      <p:sp>
        <p:nvSpPr>
          <p:cNvPr id="268" name="Google Shape;268;p12"/>
          <p:cNvSpPr/>
          <p:nvPr/>
        </p:nvSpPr>
        <p:spPr>
          <a:xfrm>
            <a:off x="548640" y="182880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ecret" id="270" name="Google Shape;2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79" y="22567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2"/>
          <p:cNvSpPr txBox="1"/>
          <p:nvPr/>
        </p:nvSpPr>
        <p:spPr>
          <a:xfrm>
            <a:off x="1645920" y="21031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Data theft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868680" y="288036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entire tables: credentials, personal and financial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172200" y="182880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6446520" y="210312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Edit" id="275" name="Google Shape;2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139" y="22567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 txBox="1"/>
          <p:nvPr/>
        </p:nvSpPr>
        <p:spPr>
          <a:xfrm>
            <a:off x="7269480" y="21031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Data tampering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6492240" y="288036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Insert, modify or delete records; destroy integrity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nlockAlt" id="280" name="Google Shape;28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579" y="4359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 txBox="1"/>
          <p:nvPr/>
        </p:nvSpPr>
        <p:spPr>
          <a:xfrm>
            <a:off x="1645920" y="420624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Auth bypass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868680" y="498348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in as any user, including administrators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6446520" y="420624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erver" id="285" name="Google Shape;28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139" y="4359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 txBox="1"/>
          <p:nvPr/>
        </p:nvSpPr>
        <p:spPr>
          <a:xfrm>
            <a:off x="7269480" y="420624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Beyond the database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6492240" y="498348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some setups: run OS commands, read or write server files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 txBox="1"/>
          <p:nvPr>
            <p:ph type="title"/>
          </p:nvPr>
        </p:nvSpPr>
        <p:spPr>
          <a:xfrm>
            <a:off x="822960" y="274320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chemeClr val="lt1"/>
                </a:solidFill>
              </a:rPr>
              <a:t>Defending against it</a:t>
            </a:r>
            <a:endParaRPr sz="3800"/>
          </a:p>
        </p:txBody>
      </p:sp>
      <p:sp>
        <p:nvSpPr>
          <p:cNvPr id="295" name="Google Shape;295;p13"/>
          <p:cNvSpPr txBox="1"/>
          <p:nvPr>
            <p:ph idx="1" type="body"/>
          </p:nvPr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</a:rPr>
              <a:t>Separate code from data: parameterized queries</a:t>
            </a:r>
            <a:endParaRPr sz="1800"/>
          </a:p>
        </p:txBody>
      </p:sp>
      <p:sp>
        <p:nvSpPr>
          <p:cNvPr id="296" name="Google Shape;296;p13"/>
          <p:cNvSpPr/>
          <p:nvPr/>
        </p:nvSpPr>
        <p:spPr>
          <a:xfrm>
            <a:off x="8732520" y="1920240"/>
            <a:ext cx="2651760" cy="2651760"/>
          </a:xfrm>
          <a:prstGeom prst="ellipse">
            <a:avLst/>
          </a:prstGeom>
          <a:solidFill>
            <a:schemeClr val="dk2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hieldAlt" id="297" name="Google Shape;2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0" y="260604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THE CORE FIX</a:t>
            </a:r>
            <a:endParaRPr sz="1200"/>
          </a:p>
        </p:txBody>
      </p:sp>
      <p:sp>
        <p:nvSpPr>
          <p:cNvPr id="305" name="Google Shape;305;p14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Parameterized queries (prepared statements)</a:t>
            </a:r>
            <a:endParaRPr sz="3200"/>
          </a:p>
        </p:txBody>
      </p:sp>
      <p:sp>
        <p:nvSpPr>
          <p:cNvPr id="306" name="Google Shape;306;p1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 the query structure up front with placeholders; send input separately as values. The database never parses it as SQL.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548640" y="2240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Safe (Node.js) — placeholders, values passed separately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48640" y="2560320"/>
            <a:ext cx="11091672" cy="1417320"/>
          </a:xfrm>
          <a:prstGeom prst="roundRect">
            <a:avLst>
              <a:gd fmla="val 5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777240" y="2706624"/>
            <a:ext cx="10634472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 [rows] = await db.execute(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"SELECT id FROM users WHERE username = ? AND password_hash = ?",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[user, hash]       </a:t>
            </a: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sent apart from the query 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The same idea elsewhere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548640" y="4407408"/>
            <a:ext cx="6766560" cy="1783080"/>
          </a:xfrm>
          <a:prstGeom prst="roundRect">
            <a:avLst>
              <a:gd fmla="val 410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 txBox="1"/>
          <p:nvPr/>
        </p:nvSpPr>
        <p:spPr>
          <a:xfrm>
            <a:off x="777240" y="4553712"/>
            <a:ext cx="6309360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# Python (DB-API)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cur.execute("...WHERE username=%s", (user,))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Java (JDBC)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PreparedStatement ps = conn.prepareStatement(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"...WHERE username = ?");  ps.setString(1,user)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7452360" y="4407408"/>
            <a:ext cx="4187952" cy="1783080"/>
          </a:xfrm>
          <a:prstGeom prst="roundRect">
            <a:avLst>
              <a:gd fmla="val 410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7680960" y="461772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ink" id="315" name="Google Shape;3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688" y="47274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4"/>
          <p:cNvSpPr txBox="1"/>
          <p:nvPr/>
        </p:nvSpPr>
        <p:spPr>
          <a:xfrm>
            <a:off x="8247888" y="46177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parallel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7680960" y="516636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Same cure as command injection: ? for SQL values, an argument vector for OS commands.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DEFENSES</a:t>
            </a:r>
            <a:endParaRPr sz="1200"/>
          </a:p>
        </p:txBody>
      </p:sp>
      <p:sp>
        <p:nvSpPr>
          <p:cNvPr id="325" name="Google Shape;325;p15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The defense hierarchy</a:t>
            </a:r>
            <a:endParaRPr sz="3200"/>
          </a:p>
        </p:txBody>
      </p:sp>
      <p:sp>
        <p:nvSpPr>
          <p:cNvPr id="326" name="Google Shape;326;p15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777240" y="2039112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 txBox="1"/>
          <p:nvPr/>
        </p:nvSpPr>
        <p:spPr>
          <a:xfrm>
            <a:off x="777240" y="2039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463040" y="2039112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de" id="330" name="Google Shape;3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768" y="2148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5"/>
          <p:cNvSpPr txBox="1"/>
          <p:nvPr/>
        </p:nvSpPr>
        <p:spPr>
          <a:xfrm>
            <a:off x="2148840" y="1783080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Parameterized queries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5532120" y="1783080"/>
            <a:ext cx="5897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Prepared statements with placeholders. The primary, decisive fix.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548640" y="2862072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548640" y="2862072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777240" y="3118104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 txBox="1"/>
          <p:nvPr/>
        </p:nvSpPr>
        <p:spPr>
          <a:xfrm>
            <a:off x="777240" y="3118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1463040" y="3118104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ubes" id="338" name="Google Shape;33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2768" y="322783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5"/>
          <p:cNvSpPr txBox="1"/>
          <p:nvPr/>
        </p:nvSpPr>
        <p:spPr>
          <a:xfrm>
            <a:off x="2148840" y="2862072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Safe ORM use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5532120" y="2862072"/>
            <a:ext cx="5897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ORMs parameterize for you, as long as you avoid raw string-built queries.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548640" y="3941064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548640" y="3941064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777240" y="4197096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777240" y="4197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1463040" y="4197096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Filter" id="346" name="Google Shape;34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2768" y="43068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5"/>
          <p:cNvSpPr txBox="1"/>
          <p:nvPr/>
        </p:nvSpPr>
        <p:spPr>
          <a:xfrm>
            <a:off x="2148840" y="3941064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Allow-list validation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5532120" y="3941064"/>
            <a:ext cx="5897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parts placeholders can't cover (column names in dynamic ORDER BY), accept only known values.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548640" y="5020056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548640" y="5020056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777240" y="527608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 txBox="1"/>
          <p:nvPr/>
        </p:nvSpPr>
        <p:spPr>
          <a:xfrm>
            <a:off x="777240" y="5276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1463040" y="527608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ock" id="354" name="Google Shape;35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2768" y="53858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5"/>
          <p:cNvSpPr txBox="1"/>
          <p:nvPr/>
        </p:nvSpPr>
        <p:spPr>
          <a:xfrm>
            <a:off x="2148840" y="5020056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Least privilege + safe errors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 txBox="1"/>
          <p:nvPr/>
        </p:nvSpPr>
        <p:spPr>
          <a:xfrm>
            <a:off x="5532120" y="5020056"/>
            <a:ext cx="5897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 DB rights contain damage; generic errors stop query structure leaking.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Parameterize first; the lower layers reinforce it and cover what it cannot.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DEFENSES</a:t>
            </a:r>
            <a:endParaRPr sz="1200"/>
          </a:p>
        </p:txBody>
      </p:sp>
      <p:sp>
        <p:nvSpPr>
          <p:cNvPr id="365" name="Google Shape;365;p16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Pitfalls that re-open the hole</a:t>
            </a:r>
            <a:endParaRPr sz="3200"/>
          </a:p>
        </p:txBody>
      </p:sp>
      <p:sp>
        <p:nvSpPr>
          <p:cNvPr id="366" name="Google Shape;366;p16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Parameterization helps only if input is truly passed as a value. These bring the bug back: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548640" y="2240280"/>
            <a:ext cx="11091672" cy="1645920"/>
          </a:xfrm>
          <a:prstGeom prst="roundRect">
            <a:avLst>
              <a:gd fmla="val 444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"/>
          <p:cNvSpPr txBox="1"/>
          <p:nvPr/>
        </p:nvSpPr>
        <p:spPr>
          <a:xfrm>
            <a:off x="777240" y="2386584"/>
            <a:ext cx="1063447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db.query(`SELECT * FROM users WHERE id = ${id}`)     </a:t>
            </a: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still concatenation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db.query(`... ORDER BY ${col}`, [])                  </a:t>
            </a: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value params, but identifier concatenated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db.query("... WHERE name='" + escape(name) + "'")    </a:t>
            </a: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hand-escaping, fragile and bypassable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548640" y="4069080"/>
            <a:ext cx="5440680" cy="146304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371" name="Google Shape;3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44183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6"/>
          <p:cNvSpPr txBox="1"/>
          <p:nvPr/>
        </p:nvSpPr>
        <p:spPr>
          <a:xfrm>
            <a:off x="1417320" y="4206240"/>
            <a:ext cx="4434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Dynamic identifiers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Placeholders bind values, not column or table names. Build those from an allow-list, never from raw input.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6199632" y="4069080"/>
            <a:ext cx="5440680" cy="146304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6428232" y="429768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375" name="Google Shape;3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933" y="44183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6"/>
          <p:cNvSpPr txBox="1"/>
          <p:nvPr/>
        </p:nvSpPr>
        <p:spPr>
          <a:xfrm>
            <a:off x="7068312" y="4206240"/>
            <a:ext cx="4434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Trusting the source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from a dropdown, hidden field or mobile app is still attacker-controllable. Validate everything server-side.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548640" y="5669280"/>
            <a:ext cx="11091672" cy="457200"/>
          </a:xfrm>
          <a:prstGeom prst="roundRect">
            <a:avLst>
              <a:gd fmla="val 16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rule: placeholders for every value  +  allow-lists for identifiers  +  least privilege.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 IN DEPTH</a:t>
            </a:r>
            <a:endParaRPr sz="1200"/>
          </a:p>
        </p:txBody>
      </p:sp>
      <p:sp>
        <p:nvSpPr>
          <p:cNvPr id="386" name="Google Shape;386;p17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defenders can watch for</a:t>
            </a:r>
            <a:endParaRPr sz="3200"/>
          </a:p>
        </p:txBody>
      </p:sp>
      <p:sp>
        <p:nvSpPr>
          <p:cNvPr id="387" name="Google Shape;387;p17"/>
          <p:cNvSpPr/>
          <p:nvPr/>
        </p:nvSpPr>
        <p:spPr>
          <a:xfrm>
            <a:off x="548640" y="18288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earch" id="389" name="Google Shape;3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634" y="22805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7"/>
          <p:cNvSpPr txBox="1"/>
          <p:nvPr/>
        </p:nvSpPr>
        <p:spPr>
          <a:xfrm>
            <a:off x="1600200" y="18288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SQL syntax in inputs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 txBox="1"/>
          <p:nvPr/>
        </p:nvSpPr>
        <p:spPr>
          <a:xfrm>
            <a:off x="5760720" y="182880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Quotes, UNION, --, or /* in fields that should hold plain values: a classic WAF and log signal.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fmla="val 6154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hartLine" id="395" name="Google Shape;39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634" y="36521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7"/>
          <p:cNvSpPr txBox="1"/>
          <p:nvPr/>
        </p:nvSpPr>
        <p:spPr>
          <a:xfrm>
            <a:off x="1600200" y="32004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Error and volume spikes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5760720" y="320040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jump in DB errors, query volume, or rows returned can mean UNION or blind extraction.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Redo" id="400" name="Google Shape;4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34" y="5023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7"/>
          <p:cNvSpPr txBox="1"/>
          <p:nvPr/>
        </p:nvSpPr>
        <p:spPr>
          <a:xfrm>
            <a:off x="1600200" y="45720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Repetitive probing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5760720" y="457200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near-identical requests with incrementing conditions point to automated blind injection.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822960" y="10972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9144000" y="868680"/>
            <a:ext cx="2194560" cy="2194560"/>
          </a:xfrm>
          <a:prstGeom prst="ellipse">
            <a:avLst/>
          </a:prstGeom>
          <a:solidFill>
            <a:srgbClr val="16243D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atabase" id="412" name="Google Shape;4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792" y="1463040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8"/>
          <p:cNvSpPr txBox="1"/>
          <p:nvPr/>
        </p:nvSpPr>
        <p:spPr>
          <a:xfrm>
            <a:off x="822960" y="3246120"/>
            <a:ext cx="10515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SQL injection places user input into a query so it changes what the query does (CWE-89, OWASP Injection).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Root cause: SQL code and user data concatenated into one string sent to the database.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Exploits range from authentication bypass to UNION extraction and blind, bit-by-bit data theft.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Fix by separating code from data: parameterized queries (prepared statements) are the decisive fix.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allow-lists for identifiers, least privilege and safe errors; never hand-escape or trust the source.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IT-30001 Cyber Security  ·  Module 3  ·  Web Server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9"/>
          <p:cNvSpPr txBox="1"/>
          <p:nvPr>
            <p:ph idx="1" type="body"/>
          </p:nvPr>
        </p:nvSpPr>
        <p:spPr>
          <a:xfrm>
            <a:off x="822960" y="1371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CYBER SECURITY · IT-30001 · MODULE 3 · WEB SERVER SECURITY</a:t>
            </a:r>
            <a:endParaRPr sz="1400"/>
          </a:p>
        </p:txBody>
      </p:sp>
      <p:sp>
        <p:nvSpPr>
          <p:cNvPr id="421" name="Google Shape;421;p19"/>
          <p:cNvSpPr txBox="1"/>
          <p:nvPr>
            <p:ph type="title"/>
          </p:nvPr>
        </p:nvSpPr>
        <p:spPr>
          <a:xfrm>
            <a:off x="822960" y="201168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chemeClr val="lt1"/>
                </a:solidFill>
              </a:rPr>
              <a:t>OS Command Injection</a:t>
            </a:r>
            <a:endParaRPr sz="6000"/>
          </a:p>
        </p:txBody>
      </p:sp>
      <p:sp>
        <p:nvSpPr>
          <p:cNvPr id="422" name="Google Shape;422;p19"/>
          <p:cNvSpPr txBox="1"/>
          <p:nvPr>
            <p:ph idx="2" type="body"/>
          </p:nvPr>
        </p:nvSpPr>
        <p:spPr>
          <a:xfrm>
            <a:off x="822960" y="370332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</a:pPr>
            <a:r>
              <a:rPr i="1" lang="en-US" sz="2100">
                <a:solidFill>
                  <a:schemeClr val="accent6"/>
                </a:solidFill>
              </a:rPr>
              <a:t>When user input becomes a system command</a:t>
            </a:r>
            <a:endParaRPr sz="2100"/>
          </a:p>
        </p:txBody>
      </p:sp>
      <p:sp>
        <p:nvSpPr>
          <p:cNvPr id="423" name="Google Shape;423;p19"/>
          <p:cNvSpPr/>
          <p:nvPr/>
        </p:nvSpPr>
        <p:spPr>
          <a:xfrm>
            <a:off x="8869680" y="1828800"/>
            <a:ext cx="2743200" cy="274320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rminal" id="424" name="Google Shape;4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0" y="2542032"/>
            <a:ext cx="1325880" cy="132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DEFINITION</a:t>
            </a:r>
            <a:endParaRPr sz="1200"/>
          </a:p>
        </p:txBody>
      </p:sp>
      <p:sp>
        <p:nvSpPr>
          <p:cNvPr id="431" name="Google Shape;431;p20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is OS command injection?</a:t>
            </a:r>
            <a:endParaRPr sz="3200"/>
          </a:p>
        </p:txBody>
      </p:sp>
      <p:sp>
        <p:nvSpPr>
          <p:cNvPr id="432" name="Google Shape;432;p20"/>
          <p:cNvSpPr/>
          <p:nvPr/>
        </p:nvSpPr>
        <p:spPr>
          <a:xfrm>
            <a:off x="548640" y="1737360"/>
            <a:ext cx="6675120" cy="2286000"/>
          </a:xfrm>
          <a:prstGeom prst="roundRect">
            <a:avLst>
              <a:gd fmla="val 32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0"/>
          <p:cNvSpPr txBox="1"/>
          <p:nvPr/>
        </p:nvSpPr>
        <p:spPr>
          <a:xfrm>
            <a:off x="868680" y="1965960"/>
            <a:ext cx="6035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mbria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 web application passes user input into a command it runs on the operating system, </a:t>
            </a:r>
            <a:r>
              <a:rPr b="1" i="0" lang="en-US" sz="21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and that input can change which command executes.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7498080" y="1737360"/>
            <a:ext cx="4142232" cy="1078992"/>
          </a:xfrm>
          <a:prstGeom prst="roundRect">
            <a:avLst>
              <a:gd fmla="val 6780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0"/>
          <p:cNvSpPr/>
          <p:nvPr/>
        </p:nvSpPr>
        <p:spPr>
          <a:xfrm>
            <a:off x="7699248" y="1956816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Hashtag" id="436" name="Google Shape;4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976" y="20665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0"/>
          <p:cNvSpPr txBox="1"/>
          <p:nvPr/>
        </p:nvSpPr>
        <p:spPr>
          <a:xfrm>
            <a:off x="8321040" y="18288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CWE-78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Improper neutralization of OS command elements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7498080" y="2944368"/>
            <a:ext cx="4142232" cy="1078992"/>
          </a:xfrm>
          <a:prstGeom prst="roundRect">
            <a:avLst>
              <a:gd fmla="val 678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"/>
          <p:cNvSpPr/>
          <p:nvPr/>
        </p:nvSpPr>
        <p:spPr>
          <a:xfrm>
            <a:off x="7699248" y="3163824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istOl" id="440" name="Google Shape;44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8976" y="32735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0"/>
          <p:cNvSpPr txBox="1"/>
          <p:nvPr/>
        </p:nvSpPr>
        <p:spPr>
          <a:xfrm>
            <a:off x="8321040" y="3035808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OWASP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Top-10 category as SQL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0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Same disease, different interpreter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atabase" id="445" name="Google Shape;44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914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0"/>
          <p:cNvSpPr txBox="1"/>
          <p:nvPr/>
        </p:nvSpPr>
        <p:spPr>
          <a:xfrm>
            <a:off x="1508760" y="4937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SQL injection  —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escapes into SQL syntax, interpreted by the database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6263640" y="498348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erminal" id="448" name="Google Shape;44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5314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0"/>
          <p:cNvSpPr txBox="1"/>
          <p:nvPr/>
        </p:nvSpPr>
        <p:spPr>
          <a:xfrm>
            <a:off x="6995160" y="4937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Command injection  —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escapes into shell syntax, interpreted by the OS shell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1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ROOT CAUSE</a:t>
            </a:r>
            <a:endParaRPr sz="1200"/>
          </a:p>
        </p:txBody>
      </p:sp>
      <p:sp>
        <p:nvSpPr>
          <p:cNvPr id="457" name="Google Shape;457;p21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Mixing code and data in one string</a:t>
            </a:r>
            <a:endParaRPr sz="3200"/>
          </a:p>
        </p:txBody>
      </p:sp>
      <p:sp>
        <p:nvSpPr>
          <p:cNvPr id="458" name="Google Shape;458;p21"/>
          <p:cNvSpPr txBox="1"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program builds a command by joining fixed text with user input, then hands the whole string to a shell. The shell cannot tell the developer's command from the user's data.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Characters the shell treats as structure, not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548640" y="30175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1"/>
          <p:cNvSpPr/>
          <p:nvPr/>
        </p:nvSpPr>
        <p:spPr>
          <a:xfrm>
            <a:off x="731520" y="3246120"/>
            <a:ext cx="114300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1"/>
          <p:cNvSpPr txBox="1"/>
          <p:nvPr/>
        </p:nvSpPr>
        <p:spPr>
          <a:xfrm>
            <a:off x="731520" y="3246120"/>
            <a:ext cx="1143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2011680" y="32461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next command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4315968" y="30175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1"/>
          <p:cNvSpPr/>
          <p:nvPr/>
        </p:nvSpPr>
        <p:spPr>
          <a:xfrm>
            <a:off x="4498848" y="3246120"/>
            <a:ext cx="114300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1"/>
          <p:cNvSpPr txBox="1"/>
          <p:nvPr/>
        </p:nvSpPr>
        <p:spPr>
          <a:xfrm>
            <a:off x="4498848" y="3246120"/>
            <a:ext cx="1143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 txBox="1"/>
          <p:nvPr/>
        </p:nvSpPr>
        <p:spPr>
          <a:xfrm>
            <a:off x="5779008" y="32461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 output to another command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8083296" y="30175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1"/>
          <p:cNvSpPr/>
          <p:nvPr/>
        </p:nvSpPr>
        <p:spPr>
          <a:xfrm>
            <a:off x="8266176" y="3246120"/>
            <a:ext cx="114300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1"/>
          <p:cNvSpPr txBox="1"/>
          <p:nvPr/>
        </p:nvSpPr>
        <p:spPr>
          <a:xfrm>
            <a:off x="8266176" y="3246120"/>
            <a:ext cx="1143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9546336" y="32461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next if first succeeds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548640" y="43891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1"/>
          <p:cNvSpPr/>
          <p:nvPr/>
        </p:nvSpPr>
        <p:spPr>
          <a:xfrm>
            <a:off x="731520" y="4617720"/>
            <a:ext cx="114300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1"/>
          <p:cNvSpPr txBox="1"/>
          <p:nvPr/>
        </p:nvSpPr>
        <p:spPr>
          <a:xfrm>
            <a:off x="731520" y="4617720"/>
            <a:ext cx="1143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`  `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1"/>
          <p:cNvSpPr txBox="1"/>
          <p:nvPr/>
        </p:nvSpPr>
        <p:spPr>
          <a:xfrm>
            <a:off x="2011680" y="46177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and substitute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4315968" y="43891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4498848" y="4617720"/>
            <a:ext cx="114300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1"/>
          <p:cNvSpPr txBox="1"/>
          <p:nvPr/>
        </p:nvSpPr>
        <p:spPr>
          <a:xfrm>
            <a:off x="4498848" y="4617720"/>
            <a:ext cx="1143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$(  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5779008" y="46177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and substitute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8083296" y="4389120"/>
            <a:ext cx="3520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1"/>
          <p:cNvSpPr/>
          <p:nvPr/>
        </p:nvSpPr>
        <p:spPr>
          <a:xfrm>
            <a:off x="8266176" y="4617720"/>
            <a:ext cx="1143000" cy="731520"/>
          </a:xfrm>
          <a:prstGeom prst="roundRect">
            <a:avLst>
              <a:gd fmla="val 75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1"/>
          <p:cNvSpPr txBox="1"/>
          <p:nvPr/>
        </p:nvSpPr>
        <p:spPr>
          <a:xfrm>
            <a:off x="8266176" y="4617720"/>
            <a:ext cx="1143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&gt; &gt;&gt;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 txBox="1"/>
          <p:nvPr/>
        </p:nvSpPr>
        <p:spPr>
          <a:xfrm>
            <a:off x="9546336" y="46177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 output to a 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2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EXAMPLE</a:t>
            </a:r>
            <a:endParaRPr sz="1200"/>
          </a:p>
        </p:txBody>
      </p:sp>
      <p:sp>
        <p:nvSpPr>
          <p:cNvPr id="491" name="Google Shape;491;p22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A vulnerable endpoint</a:t>
            </a:r>
            <a:endParaRPr sz="3200"/>
          </a:p>
        </p:txBody>
      </p:sp>
      <p:sp>
        <p:nvSpPr>
          <p:cNvPr id="492" name="Google Shape;492;p22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diagnostic feature: "ping this host". The server shells out to the ping program.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 txBox="1"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Server (Node.js)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548640" y="2560320"/>
            <a:ext cx="11091672" cy="2148840"/>
          </a:xfrm>
          <a:prstGeom prst="roundRect">
            <a:avLst>
              <a:gd fmla="val 340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"/>
          <p:cNvSpPr txBox="1"/>
          <p:nvPr/>
        </p:nvSpPr>
        <p:spPr>
          <a:xfrm>
            <a:off x="777240" y="2706624"/>
            <a:ext cx="10634472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 { exec } = require("child_process");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app.get("/ping", (req, res) =&gt;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const host = req.query.host;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exec("ping -c 1 " + host,     </a:t>
            </a:r>
            <a:r>
              <a:rPr b="0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input joined into the string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(err, stdout) =&gt; res.send(stdout));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48640" y="4892040"/>
            <a:ext cx="5440680" cy="1005840"/>
          </a:xfrm>
          <a:prstGeom prst="roundRect">
            <a:avLst>
              <a:gd fmla="val 727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731520" y="489204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Normal input 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host = 8.8.8.8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runs: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ping -c 1 8.8.8.8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6199632" y="4892040"/>
            <a:ext cx="5440680" cy="1005840"/>
          </a:xfrm>
          <a:prstGeom prst="roundRect">
            <a:avLst>
              <a:gd fmla="val 7273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2"/>
          <p:cNvSpPr txBox="1"/>
          <p:nvPr/>
        </p:nvSpPr>
        <p:spPr>
          <a:xfrm>
            <a:off x="6382512" y="489204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Crafted input 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host = 8.8.8.8; 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runs: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ping -c 1 8.8.8.8 ; 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3"/>
          <p:cNvSpPr txBox="1"/>
          <p:nvPr>
            <p:ph type="title"/>
          </p:nvPr>
        </p:nvSpPr>
        <p:spPr>
          <a:xfrm>
            <a:off x="822960" y="274320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chemeClr val="lt1"/>
                </a:solidFill>
              </a:rPr>
              <a:t>How an attacker uses it</a:t>
            </a:r>
            <a:endParaRPr sz="3800"/>
          </a:p>
        </p:txBody>
      </p:sp>
      <p:sp>
        <p:nvSpPr>
          <p:cNvPr id="507" name="Google Shape;507;p23"/>
          <p:cNvSpPr txBox="1"/>
          <p:nvPr>
            <p:ph idx="1" type="body"/>
          </p:nvPr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</a:rPr>
              <a:t>Four stages, mapped to the kill chain</a:t>
            </a:r>
            <a:endParaRPr sz="1800"/>
          </a:p>
        </p:txBody>
      </p:sp>
      <p:sp>
        <p:nvSpPr>
          <p:cNvPr id="508" name="Google Shape;508;p23"/>
          <p:cNvSpPr/>
          <p:nvPr/>
        </p:nvSpPr>
        <p:spPr>
          <a:xfrm>
            <a:off x="8732520" y="1920240"/>
            <a:ext cx="2651760" cy="2651760"/>
          </a:xfrm>
          <a:prstGeom prst="ellipse">
            <a:avLst/>
          </a:prstGeom>
          <a:solidFill>
            <a:schemeClr val="dk2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ecret" id="509" name="Google Shape;5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0" y="260604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3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4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ATTACKER WORKFLOW</a:t>
            </a:r>
            <a:endParaRPr sz="1200"/>
          </a:p>
        </p:txBody>
      </p:sp>
      <p:sp>
        <p:nvSpPr>
          <p:cNvPr id="517" name="Google Shape;517;p24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From a suspicious input to a compromised host</a:t>
            </a:r>
            <a:endParaRPr sz="3200"/>
          </a:p>
        </p:txBody>
      </p:sp>
      <p:sp>
        <p:nvSpPr>
          <p:cNvPr id="518" name="Google Shape;518;p24"/>
          <p:cNvSpPr/>
          <p:nvPr/>
        </p:nvSpPr>
        <p:spPr>
          <a:xfrm>
            <a:off x="548640" y="1920240"/>
            <a:ext cx="2651760" cy="35661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4"/>
          <p:cNvSpPr/>
          <p:nvPr/>
        </p:nvSpPr>
        <p:spPr>
          <a:xfrm>
            <a:off x="1531620" y="2194560"/>
            <a:ext cx="685800" cy="685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earch" id="520" name="Google Shape;5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212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4"/>
          <p:cNvSpPr txBox="1"/>
          <p:nvPr/>
        </p:nvSpPr>
        <p:spPr>
          <a:xfrm>
            <a:off x="731520" y="30632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1. Find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4"/>
          <p:cNvSpPr txBox="1"/>
          <p:nvPr/>
        </p:nvSpPr>
        <p:spPr>
          <a:xfrm>
            <a:off x="777240" y="3566160"/>
            <a:ext cx="21945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feature that likely runs a command: ping, DNS lookup, file convert, backup, log 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4"/>
          <p:cNvSpPr txBox="1"/>
          <p:nvPr/>
        </p:nvSpPr>
        <p:spPr>
          <a:xfrm>
            <a:off x="3127248" y="3108960"/>
            <a:ext cx="411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4"/>
          <p:cNvSpPr/>
          <p:nvPr/>
        </p:nvSpPr>
        <p:spPr>
          <a:xfrm>
            <a:off x="3364992" y="1920240"/>
            <a:ext cx="2651760" cy="35661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4"/>
          <p:cNvSpPr/>
          <p:nvPr/>
        </p:nvSpPr>
        <p:spPr>
          <a:xfrm>
            <a:off x="4347972" y="2194560"/>
            <a:ext cx="685800" cy="685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heckDouble" id="526" name="Google Shape;5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564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4"/>
          <p:cNvSpPr txBox="1"/>
          <p:nvPr/>
        </p:nvSpPr>
        <p:spPr>
          <a:xfrm>
            <a:off x="3547872" y="30632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2. Confirm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4"/>
          <p:cNvSpPr txBox="1"/>
          <p:nvPr/>
        </p:nvSpPr>
        <p:spPr>
          <a:xfrm>
            <a:off x="3593592" y="3566160"/>
            <a:ext cx="21945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 a shell runs the input, in-band or blind (timing, out-of-band)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 txBox="1"/>
          <p:nvPr/>
        </p:nvSpPr>
        <p:spPr>
          <a:xfrm>
            <a:off x="5943600" y="3108960"/>
            <a:ext cx="411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6181344" y="1920240"/>
            <a:ext cx="2651760" cy="35661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4"/>
          <p:cNvSpPr/>
          <p:nvPr/>
        </p:nvSpPr>
        <p:spPr>
          <a:xfrm>
            <a:off x="7164324" y="2194560"/>
            <a:ext cx="685800" cy="685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inoculars" id="532" name="Google Shape;53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8916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4"/>
          <p:cNvSpPr txBox="1"/>
          <p:nvPr/>
        </p:nvSpPr>
        <p:spPr>
          <a:xfrm>
            <a:off x="6364224" y="30632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3. Recon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 txBox="1"/>
          <p:nvPr/>
        </p:nvSpPr>
        <p:spPr>
          <a:xfrm>
            <a:off x="6409944" y="3566160"/>
            <a:ext cx="21945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OS, user, network, reachable hosts; read config files and secrets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4"/>
          <p:cNvSpPr txBox="1"/>
          <p:nvPr/>
        </p:nvSpPr>
        <p:spPr>
          <a:xfrm>
            <a:off x="8759952" y="3108960"/>
            <a:ext cx="411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8997696" y="1920240"/>
            <a:ext cx="2651760" cy="35661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4"/>
          <p:cNvSpPr/>
          <p:nvPr/>
        </p:nvSpPr>
        <p:spPr>
          <a:xfrm>
            <a:off x="9980676" y="2194560"/>
            <a:ext cx="685800" cy="68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Plug" id="538" name="Google Shape;53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5268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4"/>
          <p:cNvSpPr txBox="1"/>
          <p:nvPr/>
        </p:nvSpPr>
        <p:spPr>
          <a:xfrm>
            <a:off x="9180576" y="30632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4. Foothold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4"/>
          <p:cNvSpPr txBox="1"/>
          <p:nvPr/>
        </p:nvSpPr>
        <p:spPr>
          <a:xfrm>
            <a:off x="9226296" y="3566160"/>
            <a:ext cx="21945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access and lateral movement (conceptual in the lab)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4"/>
          <p:cNvSpPr/>
          <p:nvPr/>
        </p:nvSpPr>
        <p:spPr>
          <a:xfrm>
            <a:off x="548640" y="5669280"/>
            <a:ext cx="11091672" cy="457200"/>
          </a:xfrm>
          <a:prstGeom prst="roundRect">
            <a:avLst>
              <a:gd fmla="val 16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4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Severity: command injection often yields code execution on the server, the top of the impact scale.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4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5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STAGE 2 · CONFIRM</a:t>
            </a:r>
            <a:endParaRPr sz="1200"/>
          </a:p>
        </p:txBody>
      </p:sp>
      <p:sp>
        <p:nvSpPr>
          <p:cNvPr id="550" name="Google Shape;550;p25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Confirming injection (in-band)</a:t>
            </a:r>
            <a:endParaRPr sz="3200"/>
          </a:p>
        </p:txBody>
      </p:sp>
      <p:sp>
        <p:nvSpPr>
          <p:cNvPr id="551" name="Google Shape;551;p25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 a separator and a harmless, verifiable command. If its output appears, injection is confirmed.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548640" y="2194560"/>
            <a:ext cx="6400800" cy="2514600"/>
          </a:xfrm>
          <a:prstGeom prst="roundRect">
            <a:avLst>
              <a:gd fmla="val 290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5"/>
          <p:cNvSpPr txBox="1"/>
          <p:nvPr/>
        </p:nvSpPr>
        <p:spPr>
          <a:xfrm>
            <a:off x="777240" y="2340864"/>
            <a:ext cx="5943600" cy="2221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 = 8.8.8.8; id     </a:t>
            </a:r>
            <a:r>
              <a:rPr b="0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runs ping, then 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 = | id            </a:t>
            </a:r>
            <a:r>
              <a:rPr b="0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pipe 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 = 8.8.8.8 &amp;&amp; id   </a:t>
            </a:r>
            <a:r>
              <a:rPr b="0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logical-and 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 = `id`            </a:t>
            </a:r>
            <a:r>
              <a:rPr b="0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backtick 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 = $(id)           </a:t>
            </a:r>
            <a:r>
              <a:rPr b="0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dollar-paren 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7178040" y="2194560"/>
            <a:ext cx="4462272" cy="2514600"/>
          </a:xfrm>
          <a:prstGeom prst="roundRect">
            <a:avLst>
              <a:gd fmla="val 290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5"/>
          <p:cNvSpPr/>
          <p:nvPr/>
        </p:nvSpPr>
        <p:spPr>
          <a:xfrm>
            <a:off x="7406640" y="24231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erminal" id="556" name="Google Shape;5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7341" y="254386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5"/>
          <p:cNvSpPr txBox="1"/>
          <p:nvPr/>
        </p:nvSpPr>
        <p:spPr>
          <a:xfrm>
            <a:off x="7406640" y="3063240"/>
            <a:ext cx="4023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Tell-tale output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uid=33(www-data) gid=33(www-data)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appears under the ping result, confirming execution and revealing the service account.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5"/>
          <p:cNvSpPr/>
          <p:nvPr/>
        </p:nvSpPr>
        <p:spPr>
          <a:xfrm>
            <a:off x="548640" y="4937760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5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ightbulb" id="560" name="Google Shape;5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221" y="519562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5"/>
          <p:cNvSpPr txBox="1"/>
          <p:nvPr/>
        </p:nvSpPr>
        <p:spPr>
          <a:xfrm>
            <a:off x="1371600" y="49377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Why try several forms? 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weak filter may block ";" but miss "|", backticks, or $(). Defenses that only blacklist characters are routinely bypassed.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5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6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STAGE 2 · CONFIRM</a:t>
            </a:r>
            <a:endParaRPr sz="1200"/>
          </a:p>
        </p:txBody>
      </p:sp>
      <p:sp>
        <p:nvSpPr>
          <p:cNvPr id="569" name="Google Shape;569;p26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Confirming when nothing is shown (blind)</a:t>
            </a:r>
            <a:endParaRPr sz="3200"/>
          </a:p>
        </p:txBody>
      </p:sp>
      <p:sp>
        <p:nvSpPr>
          <p:cNvPr id="570" name="Google Shape;570;p26"/>
          <p:cNvSpPr/>
          <p:nvPr/>
        </p:nvSpPr>
        <p:spPr>
          <a:xfrm>
            <a:off x="548640" y="1737360"/>
            <a:ext cx="5440680" cy="4343400"/>
          </a:xfrm>
          <a:prstGeom prst="roundRect">
            <a:avLst>
              <a:gd fmla="val 168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6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lock" id="572" name="Google Shape;5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606" y="21086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26"/>
          <p:cNvSpPr txBox="1"/>
          <p:nvPr/>
        </p:nvSpPr>
        <p:spPr>
          <a:xfrm>
            <a:off x="1600200" y="201168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Time-based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>
            <a:off x="822960" y="269748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 a delay and watch the response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822960" y="3200400"/>
            <a:ext cx="4892040" cy="640080"/>
          </a:xfrm>
          <a:prstGeom prst="roundRect">
            <a:avLst>
              <a:gd fmla="val 1142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6"/>
          <p:cNvSpPr txBox="1"/>
          <p:nvPr/>
        </p:nvSpPr>
        <p:spPr>
          <a:xfrm>
            <a:off x="1051560" y="3346704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 = 8.8.8.8; sleep 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 txBox="1"/>
          <p:nvPr/>
        </p:nvSpPr>
        <p:spPr>
          <a:xfrm>
            <a:off x="822960" y="4023360"/>
            <a:ext cx="4892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response that is ~10s slower means the command ran.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6"/>
          <p:cNvSpPr/>
          <p:nvPr/>
        </p:nvSpPr>
        <p:spPr>
          <a:xfrm>
            <a:off x="6199632" y="1737360"/>
            <a:ext cx="5440680" cy="4343400"/>
          </a:xfrm>
          <a:prstGeom prst="roundRect">
            <a:avLst>
              <a:gd fmla="val 168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6"/>
          <p:cNvSpPr/>
          <p:nvPr/>
        </p:nvSpPr>
        <p:spPr>
          <a:xfrm>
            <a:off x="6473952" y="1965960"/>
            <a:ext cx="594360" cy="5943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atelliteDish" id="580" name="Google Shape;5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6598" y="21086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6"/>
          <p:cNvSpPr txBox="1"/>
          <p:nvPr/>
        </p:nvSpPr>
        <p:spPr>
          <a:xfrm>
            <a:off x="7251192" y="201168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Out-of-band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6"/>
          <p:cNvSpPr txBox="1"/>
          <p:nvPr/>
        </p:nvSpPr>
        <p:spPr>
          <a:xfrm>
            <a:off x="6473952" y="269748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the server call out to a host you monitor.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6"/>
          <p:cNvSpPr/>
          <p:nvPr/>
        </p:nvSpPr>
        <p:spPr>
          <a:xfrm>
            <a:off x="6473952" y="3200400"/>
            <a:ext cx="4892040" cy="1005840"/>
          </a:xfrm>
          <a:prstGeom prst="roundRect">
            <a:avLst>
              <a:gd fmla="val 727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6"/>
          <p:cNvSpPr txBox="1"/>
          <p:nvPr/>
        </p:nvSpPr>
        <p:spPr>
          <a:xfrm>
            <a:off x="6702552" y="3346704"/>
            <a:ext cx="4434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 = 8.8.8.8; nslookup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&lt;your-domain&gt;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6473952" y="4389120"/>
            <a:ext cx="4892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DNS lookup arrives, execution is confirmed, even with no visible output.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6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7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STAGE 3 · RECON</a:t>
            </a:r>
            <a:endParaRPr sz="1200"/>
          </a:p>
        </p:txBody>
      </p:sp>
      <p:sp>
        <p:nvSpPr>
          <p:cNvPr id="593" name="Google Shape;593;p27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Reconnaissance on the host</a:t>
            </a:r>
            <a:endParaRPr sz="3200"/>
          </a:p>
        </p:txBody>
      </p:sp>
      <p:sp>
        <p:nvSpPr>
          <p:cNvPr id="594" name="Google Shape;594;p27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execution is confirmed, the attacker chains commands to map the host and read secrets.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548640" y="2194560"/>
            <a:ext cx="6949440" cy="749808"/>
          </a:xfrm>
          <a:prstGeom prst="roundRect">
            <a:avLst>
              <a:gd fmla="val 975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731520" y="2322576"/>
            <a:ext cx="493776" cy="493776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" id="597" name="Google Shape;5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026" y="2441082"/>
            <a:ext cx="256764" cy="256764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7"/>
          <p:cNvSpPr txBox="1"/>
          <p:nvPr/>
        </p:nvSpPr>
        <p:spPr>
          <a:xfrm>
            <a:off x="1417320" y="2194560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whoami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 txBox="1"/>
          <p:nvPr/>
        </p:nvSpPr>
        <p:spPr>
          <a:xfrm>
            <a:off x="4114800" y="2194560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account the web server runs 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548640" y="3063240"/>
            <a:ext cx="6949440" cy="749808"/>
          </a:xfrm>
          <a:prstGeom prst="roundRect">
            <a:avLst>
              <a:gd fmla="val 97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548640" y="3063240"/>
            <a:ext cx="6949440" cy="749808"/>
          </a:xfrm>
          <a:prstGeom prst="roundRect">
            <a:avLst>
              <a:gd fmla="val 7317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731520" y="3191256"/>
            <a:ext cx="493776" cy="493776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erver" id="603" name="Google Shape;60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026" y="3309762"/>
            <a:ext cx="256764" cy="25676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7"/>
          <p:cNvSpPr txBox="1"/>
          <p:nvPr/>
        </p:nvSpPr>
        <p:spPr>
          <a:xfrm>
            <a:off x="1417320" y="3063240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uname -a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 txBox="1"/>
          <p:nvPr/>
        </p:nvSpPr>
        <p:spPr>
          <a:xfrm>
            <a:off x="4114800" y="3063240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 and kernel 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548640" y="3931920"/>
            <a:ext cx="6949440" cy="749808"/>
          </a:xfrm>
          <a:prstGeom prst="roundRect">
            <a:avLst>
              <a:gd fmla="val 975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731520" y="4059936"/>
            <a:ext cx="493776" cy="493776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" id="608" name="Google Shape;60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026" y="4178442"/>
            <a:ext cx="256764" cy="256764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7"/>
          <p:cNvSpPr txBox="1"/>
          <p:nvPr/>
        </p:nvSpPr>
        <p:spPr>
          <a:xfrm>
            <a:off x="1417320" y="3931920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cat /etc/passwd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 txBox="1"/>
          <p:nvPr/>
        </p:nvSpPr>
        <p:spPr>
          <a:xfrm>
            <a:off x="4114800" y="3931920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list of accounts on the host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548640" y="4800600"/>
            <a:ext cx="6949440" cy="749808"/>
          </a:xfrm>
          <a:prstGeom prst="roundRect">
            <a:avLst>
              <a:gd fmla="val 975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548640" y="4800600"/>
            <a:ext cx="6949440" cy="749808"/>
          </a:xfrm>
          <a:prstGeom prst="roundRect">
            <a:avLst>
              <a:gd fmla="val 7317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731520" y="4928616"/>
            <a:ext cx="493776" cy="493776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Key" id="614" name="Google Shape;61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026" y="5047122"/>
            <a:ext cx="256764" cy="256764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7"/>
          <p:cNvSpPr txBox="1"/>
          <p:nvPr/>
        </p:nvSpPr>
        <p:spPr>
          <a:xfrm>
            <a:off x="1417320" y="4800600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cat config.php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 txBox="1"/>
          <p:nvPr/>
        </p:nvSpPr>
        <p:spPr>
          <a:xfrm>
            <a:off x="4114800" y="4800600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secrets and database credentials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7726680" y="2194560"/>
            <a:ext cx="3913632" cy="2898648"/>
          </a:xfrm>
          <a:prstGeom prst="roundRect">
            <a:avLst>
              <a:gd fmla="val 252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7955280" y="242316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FlagCheckered" id="619" name="Google Shape;61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6954" y="25548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7"/>
          <p:cNvSpPr txBox="1"/>
          <p:nvPr/>
        </p:nvSpPr>
        <p:spPr>
          <a:xfrm>
            <a:off x="7955280" y="310896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Lab stop point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demo ends at reconnaissance. A system file returning through a ping box already proves full compromise, no need to go further in class.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Stage 4 (foothold / reverse shell) is covered conceptually only, kept out of the hands-on lab.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DELIVERY</a:t>
            </a:r>
            <a:endParaRPr sz="1200"/>
          </a:p>
        </p:txBody>
      </p:sp>
      <p:sp>
        <p:nvSpPr>
          <p:cNvPr id="629" name="Google Shape;629;p28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The client side is just an HTTP request</a:t>
            </a:r>
            <a:endParaRPr sz="3200"/>
          </a:p>
        </p:txBody>
      </p:sp>
      <p:sp>
        <p:nvSpPr>
          <p:cNvPr id="630" name="Google Shape;630;p28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exploit framework needed. The client is anything that makes an HTTP request.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 txBox="1"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 typed URL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548640" y="2487168"/>
            <a:ext cx="11091672" cy="566928"/>
          </a:xfrm>
          <a:prstGeom prst="roundRect">
            <a:avLst>
              <a:gd fmla="val 1290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8"/>
          <p:cNvSpPr txBox="1"/>
          <p:nvPr/>
        </p:nvSpPr>
        <p:spPr>
          <a:xfrm>
            <a:off x="777240" y="2633472"/>
            <a:ext cx="10634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http://lab.local:3000/ping?host=8.8.8.8%3Bid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 txBox="1"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Browser console (fetch)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548640" y="3493008"/>
            <a:ext cx="6400800" cy="1371600"/>
          </a:xfrm>
          <a:prstGeom prst="roundRect">
            <a:avLst>
              <a:gd fmla="val 533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8"/>
          <p:cNvSpPr txBox="1"/>
          <p:nvPr/>
        </p:nvSpPr>
        <p:spPr>
          <a:xfrm>
            <a:off x="777240" y="3639312"/>
            <a:ext cx="5943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 p = encodeURIComponent("8.8.8.8; id");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fetch(`http://lab.local:3000/ping?host=${p}`)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.then(r =&gt; r.text()).then(console.log);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 txBox="1"/>
          <p:nvPr/>
        </p:nvSpPr>
        <p:spPr>
          <a:xfrm>
            <a:off x="7178040" y="32004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Command line (curl)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7178040" y="3493008"/>
            <a:ext cx="4462272" cy="1371600"/>
          </a:xfrm>
          <a:prstGeom prst="roundRect">
            <a:avLst>
              <a:gd fmla="val 533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8"/>
          <p:cNvSpPr txBox="1"/>
          <p:nvPr/>
        </p:nvSpPr>
        <p:spPr>
          <a:xfrm>
            <a:off x="7406640" y="3639312"/>
            <a:ext cx="400507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curl -G "http://lab.local:3000/ping" \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--data-urlencode "host=8.8.8.8; id"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548640" y="5029200"/>
            <a:ext cx="11091672" cy="868680"/>
          </a:xfrm>
          <a:prstGeom prst="roundRect">
            <a:avLst>
              <a:gd fmla="val 842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8"/>
          <p:cNvSpPr/>
          <p:nvPr/>
        </p:nvSpPr>
        <p:spPr>
          <a:xfrm>
            <a:off x="731520" y="5138928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ExclamationCircle" id="642" name="Google Shape;6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221" y="525962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8"/>
          <p:cNvSpPr txBox="1"/>
          <p:nvPr/>
        </p:nvSpPr>
        <p:spPr>
          <a:xfrm>
            <a:off x="1371600" y="502920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Links to CSRF: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GET endpoint can be fired with no victim cooperation, e.g. an &lt;img src="...ping?host=8.8.8.8%3Bid"&gt; tag runs the request when a page loads.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9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IMPACT</a:t>
            </a:r>
            <a:endParaRPr sz="1200"/>
          </a:p>
        </p:txBody>
      </p:sp>
      <p:sp>
        <p:nvSpPr>
          <p:cNvPr id="651" name="Google Shape;651;p29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Why command injection is prized</a:t>
            </a:r>
            <a:endParaRPr sz="3200"/>
          </a:p>
        </p:txBody>
      </p:sp>
      <p:sp>
        <p:nvSpPr>
          <p:cNvPr id="652" name="Google Shape;652;p29"/>
          <p:cNvSpPr/>
          <p:nvPr/>
        </p:nvSpPr>
        <p:spPr>
          <a:xfrm>
            <a:off x="548640" y="182880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olt" id="654" name="Google Shape;6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79" y="22567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9"/>
          <p:cNvSpPr txBox="1"/>
          <p:nvPr/>
        </p:nvSpPr>
        <p:spPr>
          <a:xfrm>
            <a:off x="1645920" y="21031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Remote code execution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9"/>
          <p:cNvSpPr txBox="1"/>
          <p:nvPr/>
        </p:nvSpPr>
        <p:spPr>
          <a:xfrm>
            <a:off x="868680" y="288036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commands run with the web server's privileges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6172200" y="182880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9"/>
          <p:cNvSpPr/>
          <p:nvPr/>
        </p:nvSpPr>
        <p:spPr>
          <a:xfrm>
            <a:off x="6446520" y="210312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Key" id="659" name="Google Shape;65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139" y="22567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9"/>
          <p:cNvSpPr txBox="1"/>
          <p:nvPr/>
        </p:nvSpPr>
        <p:spPr>
          <a:xfrm>
            <a:off x="7269480" y="21031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Secret theft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9"/>
          <p:cNvSpPr txBox="1"/>
          <p:nvPr/>
        </p:nvSpPr>
        <p:spPr>
          <a:xfrm>
            <a:off x="6492240" y="288036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 files, DB credentials, API and SSH keys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9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ProjectDiagram" id="664" name="Google Shape;66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579" y="4359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9"/>
          <p:cNvSpPr txBox="1"/>
          <p:nvPr/>
        </p:nvSpPr>
        <p:spPr>
          <a:xfrm>
            <a:off x="1645920" y="420624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Lateral movement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9"/>
          <p:cNvSpPr txBox="1"/>
          <p:nvPr/>
        </p:nvSpPr>
        <p:spPr>
          <a:xfrm>
            <a:off x="868680" y="498348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Pivot to internal hosts the server can reach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6446520" y="420624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ndustry" id="669" name="Google Shape;66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139" y="4359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29"/>
          <p:cNvSpPr txBox="1"/>
          <p:nvPr/>
        </p:nvSpPr>
        <p:spPr>
          <a:xfrm>
            <a:off x="7269480" y="420624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Entry point for breaches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9"/>
          <p:cNvSpPr txBox="1"/>
          <p:nvPr/>
        </p:nvSpPr>
        <p:spPr>
          <a:xfrm>
            <a:off x="6492240" y="498348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frequent first step in appliance and supply-chain attacks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9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0"/>
          <p:cNvSpPr txBox="1"/>
          <p:nvPr>
            <p:ph type="title"/>
          </p:nvPr>
        </p:nvSpPr>
        <p:spPr>
          <a:xfrm>
            <a:off x="822960" y="274320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chemeClr val="lt1"/>
                </a:solidFill>
              </a:rPr>
              <a:t>Defending against it</a:t>
            </a:r>
            <a:endParaRPr sz="3800"/>
          </a:p>
        </p:txBody>
      </p:sp>
      <p:sp>
        <p:nvSpPr>
          <p:cNvPr id="679" name="Google Shape;679;p30"/>
          <p:cNvSpPr txBox="1"/>
          <p:nvPr>
            <p:ph idx="1" type="body"/>
          </p:nvPr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</a:rPr>
              <a:t>Same cure as SQL injection: separate code from data</a:t>
            </a:r>
            <a:endParaRPr sz="1800"/>
          </a:p>
        </p:txBody>
      </p:sp>
      <p:sp>
        <p:nvSpPr>
          <p:cNvPr id="680" name="Google Shape;680;p30"/>
          <p:cNvSpPr/>
          <p:nvPr/>
        </p:nvSpPr>
        <p:spPr>
          <a:xfrm>
            <a:off x="8732520" y="1920240"/>
            <a:ext cx="2651760" cy="2651760"/>
          </a:xfrm>
          <a:prstGeom prst="ellipse">
            <a:avLst/>
          </a:prstGeom>
          <a:solidFill>
            <a:schemeClr val="dk2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hieldAlt" id="681" name="Google Shape;68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0" y="260604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30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1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DEFENSES</a:t>
            </a:r>
            <a:endParaRPr sz="1200"/>
          </a:p>
        </p:txBody>
      </p:sp>
      <p:sp>
        <p:nvSpPr>
          <p:cNvPr id="689" name="Google Shape;689;p31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The defense hierarchy</a:t>
            </a:r>
            <a:endParaRPr sz="3200"/>
          </a:p>
        </p:txBody>
      </p:sp>
      <p:sp>
        <p:nvSpPr>
          <p:cNvPr id="690" name="Google Shape;690;p31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1"/>
          <p:cNvSpPr/>
          <p:nvPr/>
        </p:nvSpPr>
        <p:spPr>
          <a:xfrm>
            <a:off x="777240" y="2039112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1"/>
          <p:cNvSpPr txBox="1"/>
          <p:nvPr/>
        </p:nvSpPr>
        <p:spPr>
          <a:xfrm>
            <a:off x="777240" y="2039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1463040" y="2039112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an" id="694" name="Google Shape;69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768" y="2148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1"/>
          <p:cNvSpPr txBox="1"/>
          <p:nvPr/>
        </p:nvSpPr>
        <p:spPr>
          <a:xfrm>
            <a:off x="2148840" y="178308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Avoid the shell entirely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 txBox="1"/>
          <p:nvPr/>
        </p:nvSpPr>
        <p:spPr>
          <a:xfrm>
            <a:off x="5486400" y="1783080"/>
            <a:ext cx="5943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 native library (an HTTP client, a file API) instead of shelling out. No command, no injection.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548640" y="2862072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1"/>
          <p:cNvSpPr/>
          <p:nvPr/>
        </p:nvSpPr>
        <p:spPr>
          <a:xfrm>
            <a:off x="777240" y="3118104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1"/>
          <p:cNvSpPr txBox="1"/>
          <p:nvPr/>
        </p:nvSpPr>
        <p:spPr>
          <a:xfrm>
            <a:off x="777240" y="3118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1"/>
          <p:cNvSpPr/>
          <p:nvPr/>
        </p:nvSpPr>
        <p:spPr>
          <a:xfrm>
            <a:off x="1463040" y="3118104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de" id="701" name="Google Shape;70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2768" y="322783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31"/>
          <p:cNvSpPr txBox="1"/>
          <p:nvPr/>
        </p:nvSpPr>
        <p:spPr>
          <a:xfrm>
            <a:off x="2148840" y="2862072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Parameterized execution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1"/>
          <p:cNvSpPr txBox="1"/>
          <p:nvPr/>
        </p:nvSpPr>
        <p:spPr>
          <a:xfrm>
            <a:off x="5486400" y="2862072"/>
            <a:ext cx="5943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must run a program, pass it an argument vector with no shell to interpret metacharacters.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1"/>
          <p:cNvSpPr/>
          <p:nvPr/>
        </p:nvSpPr>
        <p:spPr>
          <a:xfrm>
            <a:off x="548640" y="3941064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1"/>
          <p:cNvSpPr/>
          <p:nvPr/>
        </p:nvSpPr>
        <p:spPr>
          <a:xfrm>
            <a:off x="548640" y="3941064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1"/>
          <p:cNvSpPr/>
          <p:nvPr/>
        </p:nvSpPr>
        <p:spPr>
          <a:xfrm>
            <a:off x="777240" y="4197096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1"/>
          <p:cNvSpPr txBox="1"/>
          <p:nvPr/>
        </p:nvSpPr>
        <p:spPr>
          <a:xfrm>
            <a:off x="777240" y="4197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1463040" y="4197096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Filter" id="709" name="Google Shape;70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2768" y="43068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31"/>
          <p:cNvSpPr txBox="1"/>
          <p:nvPr/>
        </p:nvSpPr>
        <p:spPr>
          <a:xfrm>
            <a:off x="2148840" y="3941064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Allow-list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 txBox="1"/>
          <p:nvPr/>
        </p:nvSpPr>
        <p:spPr>
          <a:xfrm>
            <a:off x="5486400" y="3941064"/>
            <a:ext cx="5943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 only the characters or values you expect (a host-like pattern), rejecting everything else.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1"/>
          <p:cNvSpPr/>
          <p:nvPr/>
        </p:nvSpPr>
        <p:spPr>
          <a:xfrm>
            <a:off x="548640" y="5020056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1"/>
          <p:cNvSpPr/>
          <p:nvPr/>
        </p:nvSpPr>
        <p:spPr>
          <a:xfrm>
            <a:off x="548640" y="5020056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1"/>
          <p:cNvSpPr/>
          <p:nvPr/>
        </p:nvSpPr>
        <p:spPr>
          <a:xfrm>
            <a:off x="777240" y="527608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1"/>
          <p:cNvSpPr txBox="1"/>
          <p:nvPr/>
        </p:nvSpPr>
        <p:spPr>
          <a:xfrm>
            <a:off x="777240" y="5276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1463040" y="527608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ock" id="717" name="Google Shape;71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2768" y="53858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31"/>
          <p:cNvSpPr txBox="1"/>
          <p:nvPr/>
        </p:nvSpPr>
        <p:spPr>
          <a:xfrm>
            <a:off x="2148840" y="5020056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Least privilege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1"/>
          <p:cNvSpPr txBox="1"/>
          <p:nvPr/>
        </p:nvSpPr>
        <p:spPr>
          <a:xfrm>
            <a:off x="5486400" y="5020056"/>
            <a:ext cx="5943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service with minimal rights so a successful injection is contained.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Strongest at the top. Lower layers reinforce the higher ones, they are not substitutes.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2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THE CORE FIX</a:t>
            </a:r>
            <a:endParaRPr sz="1200"/>
          </a:p>
        </p:txBody>
      </p:sp>
      <p:sp>
        <p:nvSpPr>
          <p:cNvPr id="728" name="Google Shape;728;p32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Parameterized execution</a:t>
            </a:r>
            <a:endParaRPr sz="3200"/>
          </a:p>
        </p:txBody>
      </p:sp>
      <p:sp>
        <p:nvSpPr>
          <p:cNvPr id="729" name="Google Shape;729;p32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 the program up front; pass input as a separate argument. No shell, nothing to parse. Same idea as a parameterized SQL query.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2"/>
          <p:cNvSpPr txBox="1"/>
          <p:nvPr/>
        </p:nvSpPr>
        <p:spPr>
          <a:xfrm>
            <a:off x="548640" y="2240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Safe (Node.js) — execFile runs the binary directly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2"/>
          <p:cNvSpPr/>
          <p:nvPr/>
        </p:nvSpPr>
        <p:spPr>
          <a:xfrm>
            <a:off x="548640" y="2560320"/>
            <a:ext cx="6766560" cy="2834640"/>
          </a:xfrm>
          <a:prstGeom prst="roundRect">
            <a:avLst>
              <a:gd fmla="val 25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2"/>
          <p:cNvSpPr txBox="1"/>
          <p:nvPr/>
        </p:nvSpPr>
        <p:spPr>
          <a:xfrm>
            <a:off x="777240" y="2706624"/>
            <a:ext cx="6309360" cy="2542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 { execFile } = require("child_process");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app.get("/ping", (req, res) =&gt;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const host = req.query.host;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if (!/^[a-zA-Z0-9.\-]+$/.test(host))     </a:t>
            </a: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allow-list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res.status(400).send("Invalid host");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execFile("ping", ["-c", "1", host],      </a:t>
            </a: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argument vector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(err, stdout) =&gt; res.send(stdout));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2"/>
          <p:cNvSpPr txBox="1"/>
          <p:nvPr/>
        </p:nvSpPr>
        <p:spPr>
          <a:xfrm>
            <a:off x="7589520" y="22402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The same idea elsewhere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2"/>
          <p:cNvSpPr/>
          <p:nvPr/>
        </p:nvSpPr>
        <p:spPr>
          <a:xfrm>
            <a:off x="7589520" y="2560320"/>
            <a:ext cx="4050792" cy="2834640"/>
          </a:xfrm>
          <a:prstGeom prst="roundRect">
            <a:avLst>
              <a:gd fmla="val 258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2"/>
          <p:cNvSpPr txBox="1"/>
          <p:nvPr/>
        </p:nvSpPr>
        <p:spPr>
          <a:xfrm>
            <a:off x="7818120" y="2706624"/>
            <a:ext cx="3593592" cy="2542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# 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subprocess.run(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["ping","-c","1",host],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shell=False)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Java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new ProcessBuilder(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"ping","-c","1",host)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.start();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2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fmla="val 1290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2"/>
          <p:cNvSpPr txBox="1"/>
          <p:nvPr/>
        </p:nvSpPr>
        <p:spPr>
          <a:xfrm>
            <a:off x="777240" y="5532120"/>
            <a:ext cx="10698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host = "8.8.8.8; id"  </a:t>
            </a: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arrives as one argument; ping fails to resolve it. The ; never reaches a shell.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2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3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DEFENSES</a:t>
            </a:r>
            <a:endParaRPr sz="1200"/>
          </a:p>
        </p:txBody>
      </p:sp>
      <p:sp>
        <p:nvSpPr>
          <p:cNvPr id="745" name="Google Shape;745;p33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Pitfalls that re-open the hole</a:t>
            </a:r>
            <a:endParaRPr sz="3200"/>
          </a:p>
        </p:txBody>
      </p:sp>
      <p:sp>
        <p:nvSpPr>
          <p:cNvPr id="746" name="Google Shape;746;p33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Parameterization helps only if you truly avoid the shell. These bring the bug back: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3"/>
          <p:cNvSpPr/>
          <p:nvPr/>
        </p:nvSpPr>
        <p:spPr>
          <a:xfrm>
            <a:off x="548640" y="2240280"/>
            <a:ext cx="11091672" cy="1645920"/>
          </a:xfrm>
          <a:prstGeom prst="roundRect">
            <a:avLst>
              <a:gd fmla="val 444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3"/>
          <p:cNvSpPr txBox="1"/>
          <p:nvPr/>
        </p:nvSpPr>
        <p:spPr>
          <a:xfrm>
            <a:off x="777240" y="2386584"/>
            <a:ext cx="1063447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exec(`ping -c 1 ${host}`)                   </a:t>
            </a: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shell + concatenation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execFile("sh", ["-c", `ping -c 1 ${host}`]) </a:t>
            </a: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list form, but you invoked 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execFile("bash", ["-c", userControlled])     </a:t>
            </a: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same mistake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3"/>
          <p:cNvSpPr/>
          <p:nvPr/>
        </p:nvSpPr>
        <p:spPr>
          <a:xfrm>
            <a:off x="548640" y="4069080"/>
            <a:ext cx="5440680" cy="1371600"/>
          </a:xfrm>
          <a:prstGeom prst="roundRect">
            <a:avLst>
              <a:gd fmla="val 5333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3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751" name="Google Shape;7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44183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3"/>
          <p:cNvSpPr txBox="1"/>
          <p:nvPr/>
        </p:nvSpPr>
        <p:spPr>
          <a:xfrm>
            <a:off x="1417320" y="4206240"/>
            <a:ext cx="4434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Blacklisting characters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that strip ";" miss "|", backticks, $(), newlines, and encodings. Routinely bypassed.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3"/>
          <p:cNvSpPr/>
          <p:nvPr/>
        </p:nvSpPr>
        <p:spPr>
          <a:xfrm>
            <a:off x="6199632" y="4069080"/>
            <a:ext cx="5440680" cy="1371600"/>
          </a:xfrm>
          <a:prstGeom prst="roundRect">
            <a:avLst>
              <a:gd fmla="val 5333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3"/>
          <p:cNvSpPr/>
          <p:nvPr/>
        </p:nvSpPr>
        <p:spPr>
          <a:xfrm>
            <a:off x="6428232" y="429768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755" name="Google Shape;7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933" y="44183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33"/>
          <p:cNvSpPr txBox="1"/>
          <p:nvPr/>
        </p:nvSpPr>
        <p:spPr>
          <a:xfrm>
            <a:off x="7068312" y="4206240"/>
            <a:ext cx="4434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Invoking sh -c yourself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Passing a list to sh -c still hands a string to a shell, the vector is back.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3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fmla="val 16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3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rule: argument vector  +  no sh -c  +  allow-list input  +  least privilege.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3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4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 IN DEPTH</a:t>
            </a:r>
            <a:endParaRPr sz="1200"/>
          </a:p>
        </p:txBody>
      </p:sp>
      <p:sp>
        <p:nvSpPr>
          <p:cNvPr id="766" name="Google Shape;766;p34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defenders can watch for</a:t>
            </a:r>
            <a:endParaRPr sz="3200"/>
          </a:p>
        </p:txBody>
      </p:sp>
      <p:sp>
        <p:nvSpPr>
          <p:cNvPr id="767" name="Google Shape;767;p34"/>
          <p:cNvSpPr/>
          <p:nvPr/>
        </p:nvSpPr>
        <p:spPr>
          <a:xfrm>
            <a:off x="548640" y="18288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4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ProjectDiagram" id="769" name="Google Shape;7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634" y="22805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34"/>
          <p:cNvSpPr txBox="1"/>
          <p:nvPr/>
        </p:nvSpPr>
        <p:spPr>
          <a:xfrm>
            <a:off x="1600200" y="182880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Unexpected child processes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4"/>
          <p:cNvSpPr txBox="1"/>
          <p:nvPr/>
        </p:nvSpPr>
        <p:spPr>
          <a:xfrm>
            <a:off x="5577840" y="1828800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web process spawning sh, bash, nslookup or curl is abnormal, a standard detection rule.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4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4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fmla="val 6154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4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atelliteDish" id="775" name="Google Shape;77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634" y="36521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34"/>
          <p:cNvSpPr txBox="1"/>
          <p:nvPr/>
        </p:nvSpPr>
        <p:spPr>
          <a:xfrm>
            <a:off x="1600200" y="320040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Outbound callbacks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4"/>
          <p:cNvSpPr txBox="1"/>
          <p:nvPr/>
        </p:nvSpPr>
        <p:spPr>
          <a:xfrm>
            <a:off x="5577840" y="3200400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Unexpected DNS or HTTP from a server can mean out-of-band confirmation or exfiltration.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4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4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topwatch" id="780" name="Google Shape;78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34" y="5023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34"/>
          <p:cNvSpPr txBox="1"/>
          <p:nvPr/>
        </p:nvSpPr>
        <p:spPr>
          <a:xfrm>
            <a:off x="1600200" y="457200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Timing anomalies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4"/>
          <p:cNvSpPr txBox="1"/>
          <p:nvPr/>
        </p:nvSpPr>
        <p:spPr>
          <a:xfrm>
            <a:off x="5577840" y="4572000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Requests that are suddenly slow can indicate injected delays (sleep).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4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5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5"/>
          <p:cNvSpPr txBox="1"/>
          <p:nvPr/>
        </p:nvSpPr>
        <p:spPr>
          <a:xfrm>
            <a:off x="822960" y="10972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5"/>
          <p:cNvSpPr/>
          <p:nvPr/>
        </p:nvSpPr>
        <p:spPr>
          <a:xfrm>
            <a:off x="9144000" y="868680"/>
            <a:ext cx="2194560" cy="2194560"/>
          </a:xfrm>
          <a:prstGeom prst="ellipse">
            <a:avLst/>
          </a:prstGeom>
          <a:solidFill>
            <a:srgbClr val="16243D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key" id="792" name="Google Shape;79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8360" y="146304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35"/>
          <p:cNvSpPr txBox="1"/>
          <p:nvPr/>
        </p:nvSpPr>
        <p:spPr>
          <a:xfrm>
            <a:off x="822960" y="3246120"/>
            <a:ext cx="10515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Command injection runs user input as an OS command (CWE-78, OWASP Injection).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Root cause: code and data concatenated into one string handed to a shell.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plain web request is the whole exploit; blind variants need no visible output.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Fix by separating code from data: avoid the shell, then parameterized execution.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allow-list validation and least privilege; never rely on character blacklists.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IT-30001 Cyber Security  ·  Module 3  ·  Web Server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6"/>
          <p:cNvSpPr txBox="1"/>
          <p:nvPr>
            <p:ph idx="1" type="body"/>
          </p:nvPr>
        </p:nvSpPr>
        <p:spPr>
          <a:xfrm>
            <a:off x="822960" y="1371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CYBER SECURITY · IT-30001 · MODULE 3 · WEB SERVER SECURITY</a:t>
            </a:r>
            <a:endParaRPr sz="1400"/>
          </a:p>
        </p:txBody>
      </p:sp>
      <p:sp>
        <p:nvSpPr>
          <p:cNvPr id="801" name="Google Shape;801;p36"/>
          <p:cNvSpPr txBox="1"/>
          <p:nvPr>
            <p:ph type="title"/>
          </p:nvPr>
        </p:nvSpPr>
        <p:spPr>
          <a:xfrm>
            <a:off x="822960" y="201168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chemeClr val="lt1"/>
                </a:solidFill>
              </a:rPr>
              <a:t>Cross-Site Scripting</a:t>
            </a:r>
            <a:endParaRPr sz="6000"/>
          </a:p>
        </p:txBody>
      </p:sp>
      <p:sp>
        <p:nvSpPr>
          <p:cNvPr id="802" name="Google Shape;802;p36"/>
          <p:cNvSpPr txBox="1"/>
          <p:nvPr>
            <p:ph idx="2" type="body"/>
          </p:nvPr>
        </p:nvSpPr>
        <p:spPr>
          <a:xfrm>
            <a:off x="822960" y="370332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</a:pPr>
            <a:r>
              <a:rPr i="1" lang="en-US" sz="2100">
                <a:solidFill>
                  <a:schemeClr val="accent6"/>
                </a:solidFill>
              </a:rPr>
              <a:t>Running attacker script in a victim's browser (XSS)</a:t>
            </a:r>
            <a:endParaRPr sz="2100"/>
          </a:p>
        </p:txBody>
      </p:sp>
      <p:sp>
        <p:nvSpPr>
          <p:cNvPr id="803" name="Google Shape;803;p36"/>
          <p:cNvSpPr/>
          <p:nvPr/>
        </p:nvSpPr>
        <p:spPr>
          <a:xfrm>
            <a:off x="8869680" y="1828800"/>
            <a:ext cx="2743200" cy="274320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de" id="804" name="Google Shape;80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480" y="2578608"/>
            <a:ext cx="137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7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DEFINITION</a:t>
            </a:r>
            <a:endParaRPr sz="1200"/>
          </a:p>
        </p:txBody>
      </p:sp>
      <p:sp>
        <p:nvSpPr>
          <p:cNvPr id="811" name="Google Shape;811;p37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is cross-site scripting?</a:t>
            </a:r>
            <a:endParaRPr sz="3200"/>
          </a:p>
        </p:txBody>
      </p:sp>
      <p:sp>
        <p:nvSpPr>
          <p:cNvPr id="812" name="Google Shape;812;p37"/>
          <p:cNvSpPr/>
          <p:nvPr/>
        </p:nvSpPr>
        <p:spPr>
          <a:xfrm>
            <a:off x="548640" y="1737360"/>
            <a:ext cx="6675120" cy="2286000"/>
          </a:xfrm>
          <a:prstGeom prst="roundRect">
            <a:avLst>
              <a:gd fmla="val 32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7"/>
          <p:cNvSpPr txBox="1"/>
          <p:nvPr/>
        </p:nvSpPr>
        <p:spPr>
          <a:xfrm>
            <a:off x="868680" y="1965960"/>
            <a:ext cx="6035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mbria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 attacker's script runs in another user's browser, </a:t>
            </a:r>
            <a:r>
              <a:rPr b="1" i="0" lang="en-US" sz="21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in the context of a site the victim trusts.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7"/>
          <p:cNvSpPr/>
          <p:nvPr/>
        </p:nvSpPr>
        <p:spPr>
          <a:xfrm>
            <a:off x="7498080" y="1737360"/>
            <a:ext cx="4142232" cy="1078992"/>
          </a:xfrm>
          <a:prstGeom prst="roundRect">
            <a:avLst>
              <a:gd fmla="val 6780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7"/>
          <p:cNvSpPr/>
          <p:nvPr/>
        </p:nvSpPr>
        <p:spPr>
          <a:xfrm>
            <a:off x="7699248" y="1956816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Hashtag" id="816" name="Google Shape;8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976" y="20665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37"/>
          <p:cNvSpPr txBox="1"/>
          <p:nvPr/>
        </p:nvSpPr>
        <p:spPr>
          <a:xfrm>
            <a:off x="8321040" y="18288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CWE-79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Improper neutralization of input in web pages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7"/>
          <p:cNvSpPr/>
          <p:nvPr/>
        </p:nvSpPr>
        <p:spPr>
          <a:xfrm>
            <a:off x="7498080" y="2944368"/>
            <a:ext cx="4142232" cy="1078992"/>
          </a:xfrm>
          <a:prstGeom prst="roundRect">
            <a:avLst>
              <a:gd fmla="val 678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7"/>
          <p:cNvSpPr/>
          <p:nvPr/>
        </p:nvSpPr>
        <p:spPr>
          <a:xfrm>
            <a:off x="7699248" y="3163824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istOl" id="820" name="Google Shape;82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8976" y="32735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37"/>
          <p:cNvSpPr txBox="1"/>
          <p:nvPr/>
        </p:nvSpPr>
        <p:spPr>
          <a:xfrm>
            <a:off x="8321040" y="3035808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OWASP A03: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XSS is grouped under Injection (2021)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7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7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twist that sets XSS apart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7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erver" id="825" name="Google Shape;82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914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37"/>
          <p:cNvSpPr txBox="1"/>
          <p:nvPr/>
        </p:nvSpPr>
        <p:spPr>
          <a:xfrm>
            <a:off x="1508760" y="4937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SQLi / command injection  —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code runs on the server; the victim is the server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7"/>
          <p:cNvSpPr/>
          <p:nvPr/>
        </p:nvSpPr>
        <p:spPr>
          <a:xfrm>
            <a:off x="6263640" y="498348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Friends" id="828" name="Google Shape;82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5314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37"/>
          <p:cNvSpPr txBox="1"/>
          <p:nvPr/>
        </p:nvSpPr>
        <p:spPr>
          <a:xfrm>
            <a:off x="6995160" y="4937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Cross-site scripting  —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code runs in another user's browser; the victim is a user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7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8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ROOT CAUSE</a:t>
            </a:r>
            <a:endParaRPr sz="1200"/>
          </a:p>
        </p:txBody>
      </p:sp>
      <p:sp>
        <p:nvSpPr>
          <p:cNvPr id="837" name="Google Shape;837;p38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Untrusted input rendered as code</a:t>
            </a:r>
            <a:endParaRPr sz="3200"/>
          </a:p>
        </p:txBody>
      </p:sp>
      <p:sp>
        <p:nvSpPr>
          <p:cNvPr id="838" name="Google Shape;838;p38"/>
          <p:cNvSpPr txBox="1"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application puts untrusted input into a page without neutralizing it, so the browser parses it as HTML or JavaScript, not as text, and runs it with the trusted site's privileges.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8"/>
          <p:cNvSpPr txBox="1"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Because the script runs as the trusted origin, it can: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8"/>
          <p:cNvSpPr/>
          <p:nvPr/>
        </p:nvSpPr>
        <p:spPr>
          <a:xfrm>
            <a:off x="548640" y="3017520"/>
            <a:ext cx="5440680" cy="128016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8"/>
          <p:cNvSpPr/>
          <p:nvPr/>
        </p:nvSpPr>
        <p:spPr>
          <a:xfrm>
            <a:off x="804672" y="3364992"/>
            <a:ext cx="566928" cy="566928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okieBite" id="842" name="Google Shape;84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735" y="3501055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38"/>
          <p:cNvSpPr txBox="1"/>
          <p:nvPr/>
        </p:nvSpPr>
        <p:spPr>
          <a:xfrm>
            <a:off x="1600200" y="320040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Read cookies &amp; tokens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steal session identifiers not marked HttpOnly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8"/>
          <p:cNvSpPr/>
          <p:nvPr/>
        </p:nvSpPr>
        <p:spPr>
          <a:xfrm>
            <a:off x="6172200" y="3017520"/>
            <a:ext cx="5440680" cy="128016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8"/>
          <p:cNvSpPr/>
          <p:nvPr/>
        </p:nvSpPr>
        <p:spPr>
          <a:xfrm>
            <a:off x="6428232" y="3364992"/>
            <a:ext cx="566928" cy="566928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Keyboard" id="846" name="Google Shape;84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4295" y="3501055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38"/>
          <p:cNvSpPr txBox="1"/>
          <p:nvPr/>
        </p:nvSpPr>
        <p:spPr>
          <a:xfrm>
            <a:off x="7223760" y="320040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Capture keystrokes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what the user types, including passwords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8"/>
          <p:cNvSpPr/>
          <p:nvPr/>
        </p:nvSpPr>
        <p:spPr>
          <a:xfrm>
            <a:off x="548640" y="4480560"/>
            <a:ext cx="5440680" cy="128016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8"/>
          <p:cNvSpPr/>
          <p:nvPr/>
        </p:nvSpPr>
        <p:spPr>
          <a:xfrm>
            <a:off x="804672" y="4828032"/>
            <a:ext cx="566928" cy="566928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Cog" id="850" name="Google Shape;85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735" y="4964095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38"/>
          <p:cNvSpPr txBox="1"/>
          <p:nvPr/>
        </p:nvSpPr>
        <p:spPr>
          <a:xfrm>
            <a:off x="1600200" y="46634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 as the user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 forms and requests as the logged-in victim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8"/>
          <p:cNvSpPr/>
          <p:nvPr/>
        </p:nvSpPr>
        <p:spPr>
          <a:xfrm>
            <a:off x="6172200" y="4480560"/>
            <a:ext cx="5440680" cy="128016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8"/>
          <p:cNvSpPr/>
          <p:nvPr/>
        </p:nvSpPr>
        <p:spPr>
          <a:xfrm>
            <a:off x="6428232" y="4828032"/>
            <a:ext cx="566928" cy="566928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PaintRoller" id="854" name="Google Shape;854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4295" y="4964095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38"/>
          <p:cNvSpPr txBox="1"/>
          <p:nvPr/>
        </p:nvSpPr>
        <p:spPr>
          <a:xfrm>
            <a:off x="7223760" y="46634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Rewrite the page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deface content or inject a fake login 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8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fmla="val 177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8"/>
          <p:cNvSpPr txBox="1"/>
          <p:nvPr/>
        </p:nvSpPr>
        <p:spPr>
          <a:xfrm>
            <a:off x="731520" y="587044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browser cannot tell the developer's HTML from the attacker's: both arrived in the same page.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8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9"/>
          <p:cNvSpPr txBox="1"/>
          <p:nvPr>
            <p:ph type="title"/>
          </p:nvPr>
        </p:nvSpPr>
        <p:spPr>
          <a:xfrm>
            <a:off x="822960" y="274320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chemeClr val="lt1"/>
                </a:solidFill>
              </a:rPr>
              <a:t>The three types of XSS</a:t>
            </a:r>
            <a:endParaRPr sz="3800"/>
          </a:p>
        </p:txBody>
      </p:sp>
      <p:sp>
        <p:nvSpPr>
          <p:cNvPr id="865" name="Google Shape;865;p39"/>
          <p:cNvSpPr txBox="1"/>
          <p:nvPr>
            <p:ph idx="1" type="body"/>
          </p:nvPr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</a:rPr>
              <a:t>Where the payload is stored and how it reaches the victim</a:t>
            </a:r>
            <a:endParaRPr sz="1800"/>
          </a:p>
        </p:txBody>
      </p:sp>
      <p:sp>
        <p:nvSpPr>
          <p:cNvPr id="866" name="Google Shape;866;p39"/>
          <p:cNvSpPr/>
          <p:nvPr/>
        </p:nvSpPr>
        <p:spPr>
          <a:xfrm>
            <a:off x="8732520" y="1920240"/>
            <a:ext cx="2651760" cy="2651760"/>
          </a:xfrm>
          <a:prstGeom prst="ellipse">
            <a:avLst/>
          </a:prstGeom>
          <a:solidFill>
            <a:schemeClr val="dk2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itemap" id="867" name="Google Shape;86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0" y="260604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39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0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THREE TYPES</a:t>
            </a:r>
            <a:endParaRPr sz="1200"/>
          </a:p>
        </p:txBody>
      </p:sp>
      <p:sp>
        <p:nvSpPr>
          <p:cNvPr id="875" name="Google Shape;875;p40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Stored, reflected, and DOM-based</a:t>
            </a:r>
            <a:endParaRPr sz="3200"/>
          </a:p>
        </p:txBody>
      </p:sp>
      <p:sp>
        <p:nvSpPr>
          <p:cNvPr id="876" name="Google Shape;876;p40"/>
          <p:cNvSpPr/>
          <p:nvPr/>
        </p:nvSpPr>
        <p:spPr>
          <a:xfrm>
            <a:off x="548640" y="1874520"/>
            <a:ext cx="3520440" cy="3749040"/>
          </a:xfrm>
          <a:prstGeom prst="roundRect">
            <a:avLst>
              <a:gd fmla="val 20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40"/>
          <p:cNvSpPr/>
          <p:nvPr/>
        </p:nvSpPr>
        <p:spPr>
          <a:xfrm>
            <a:off x="1943100" y="2148840"/>
            <a:ext cx="731520" cy="7315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atabase" id="878" name="Google Shape;87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8665" y="23244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40"/>
          <p:cNvSpPr txBox="1"/>
          <p:nvPr/>
        </p:nvSpPr>
        <p:spPr>
          <a:xfrm>
            <a:off x="731520" y="301752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Stored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0"/>
          <p:cNvSpPr txBox="1"/>
          <p:nvPr/>
        </p:nvSpPr>
        <p:spPr>
          <a:xfrm>
            <a:off x="822960" y="361188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Saved on the server (comment, profile) and served to every viewer.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1" name="Google Shape;881;p40"/>
          <p:cNvCxnSpPr/>
          <p:nvPr/>
        </p:nvCxnSpPr>
        <p:spPr>
          <a:xfrm>
            <a:off x="1005840" y="4892040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2" name="Google Shape;882;p40"/>
          <p:cNvSpPr txBox="1"/>
          <p:nvPr/>
        </p:nvSpPr>
        <p:spPr>
          <a:xfrm>
            <a:off x="822960" y="502920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Most dangerous: hits all users, no lure needed.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0"/>
          <p:cNvSpPr/>
          <p:nvPr/>
        </p:nvSpPr>
        <p:spPr>
          <a:xfrm>
            <a:off x="4315968" y="1874520"/>
            <a:ext cx="3520440" cy="3749040"/>
          </a:xfrm>
          <a:prstGeom prst="roundRect">
            <a:avLst>
              <a:gd fmla="val 20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0"/>
          <p:cNvSpPr/>
          <p:nvPr/>
        </p:nvSpPr>
        <p:spPr>
          <a:xfrm>
            <a:off x="5710428" y="2148840"/>
            <a:ext cx="731520" cy="7315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Reply" id="885" name="Google Shape;88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5993" y="23244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40"/>
          <p:cNvSpPr txBox="1"/>
          <p:nvPr/>
        </p:nvSpPr>
        <p:spPr>
          <a:xfrm>
            <a:off x="4498848" y="301752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Reflected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0"/>
          <p:cNvSpPr txBox="1"/>
          <p:nvPr/>
        </p:nvSpPr>
        <p:spPr>
          <a:xfrm>
            <a:off x="4590288" y="361188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Echoed straight back from the request into the response.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8" name="Google Shape;888;p40"/>
          <p:cNvCxnSpPr/>
          <p:nvPr/>
        </p:nvCxnSpPr>
        <p:spPr>
          <a:xfrm>
            <a:off x="4773168" y="4892040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9" name="Google Shape;889;p40"/>
          <p:cNvSpPr txBox="1"/>
          <p:nvPr/>
        </p:nvSpPr>
        <p:spPr>
          <a:xfrm>
            <a:off x="4590288" y="502920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Delivered via a crafted link the victim must click.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0"/>
          <p:cNvSpPr/>
          <p:nvPr/>
        </p:nvSpPr>
        <p:spPr>
          <a:xfrm>
            <a:off x="8083296" y="1874520"/>
            <a:ext cx="3520440" cy="3749040"/>
          </a:xfrm>
          <a:prstGeom prst="roundRect">
            <a:avLst>
              <a:gd fmla="val 20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40"/>
          <p:cNvSpPr/>
          <p:nvPr/>
        </p:nvSpPr>
        <p:spPr>
          <a:xfrm>
            <a:off x="9477756" y="2148840"/>
            <a:ext cx="731520" cy="731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de" id="892" name="Google Shape;89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3321" y="23244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40"/>
          <p:cNvSpPr txBox="1"/>
          <p:nvPr/>
        </p:nvSpPr>
        <p:spPr>
          <a:xfrm>
            <a:off x="8266176" y="301752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DOM-based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0"/>
          <p:cNvSpPr txBox="1"/>
          <p:nvPr/>
        </p:nvSpPr>
        <p:spPr>
          <a:xfrm>
            <a:off x="8357616" y="361188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Client-side JS writes attacker input into the page.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5" name="Google Shape;895;p40"/>
          <p:cNvCxnSpPr/>
          <p:nvPr/>
        </p:nvCxnSpPr>
        <p:spPr>
          <a:xfrm>
            <a:off x="8540496" y="4892040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6" name="Google Shape;896;p40"/>
          <p:cNvSpPr txBox="1"/>
          <p:nvPr/>
        </p:nvSpPr>
        <p:spPr>
          <a:xfrm>
            <a:off x="8357616" y="502920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Server never sees it; lives entirely in the browser.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0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1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TYPE 1 · STORED</a:t>
            </a:r>
            <a:endParaRPr sz="1200"/>
          </a:p>
        </p:txBody>
      </p:sp>
      <p:sp>
        <p:nvSpPr>
          <p:cNvPr id="904" name="Google Shape;904;p41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Stored (persistent) XSS</a:t>
            </a:r>
            <a:endParaRPr sz="3200"/>
          </a:p>
        </p:txBody>
      </p:sp>
      <p:sp>
        <p:nvSpPr>
          <p:cNvPr id="905" name="Google Shape;905;p41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payload is saved on the server and runs for everyone who views the page, no lure needed.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1"/>
          <p:cNvSpPr txBox="1"/>
          <p:nvPr/>
        </p:nvSpPr>
        <p:spPr>
          <a:xfrm>
            <a:off x="548640" y="2194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Vulnerable: a comment rendered without encoding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1"/>
          <p:cNvSpPr/>
          <p:nvPr/>
        </p:nvSpPr>
        <p:spPr>
          <a:xfrm>
            <a:off x="548640" y="2560320"/>
            <a:ext cx="11091672" cy="1920240"/>
          </a:xfrm>
          <a:prstGeom prst="roundRect">
            <a:avLst>
              <a:gd fmla="val 38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1"/>
          <p:cNvSpPr txBox="1"/>
          <p:nvPr/>
        </p:nvSpPr>
        <p:spPr>
          <a:xfrm>
            <a:off x="777240" y="2706624"/>
            <a:ext cx="10634472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server stores whatever was posted, then renders it raw: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page += "&lt;div class='comment'&gt;" + comment + "&lt;/div&gt;";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attacker posts as the comment text: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&lt;script&gt;/* runs in every viewer's browser */&lt;/script&gt;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1"/>
          <p:cNvSpPr/>
          <p:nvPr/>
        </p:nvSpPr>
        <p:spPr>
          <a:xfrm>
            <a:off x="548640" y="4663440"/>
            <a:ext cx="356616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1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Pen" id="911" name="Google Shape;91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914" y="50694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41"/>
          <p:cNvSpPr txBox="1"/>
          <p:nvPr/>
        </p:nvSpPr>
        <p:spPr>
          <a:xfrm>
            <a:off x="1463040" y="466344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Attacker posts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payload saved in the DB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1"/>
          <p:cNvSpPr txBox="1"/>
          <p:nvPr/>
        </p:nvSpPr>
        <p:spPr>
          <a:xfrm>
            <a:off x="4069080" y="4937760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1"/>
          <p:cNvSpPr/>
          <p:nvPr/>
        </p:nvSpPr>
        <p:spPr>
          <a:xfrm>
            <a:off x="4434840" y="4663440"/>
            <a:ext cx="356616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41"/>
          <p:cNvSpPr/>
          <p:nvPr/>
        </p:nvSpPr>
        <p:spPr>
          <a:xfrm>
            <a:off x="4663440" y="493776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atabase" id="916" name="Google Shape;91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5114" y="50694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41"/>
          <p:cNvSpPr txBox="1"/>
          <p:nvPr/>
        </p:nvSpPr>
        <p:spPr>
          <a:xfrm>
            <a:off x="5349240" y="466344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Server stores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ordinary content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1"/>
          <p:cNvSpPr txBox="1"/>
          <p:nvPr/>
        </p:nvSpPr>
        <p:spPr>
          <a:xfrm>
            <a:off x="7955280" y="4937760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1"/>
          <p:cNvSpPr/>
          <p:nvPr/>
        </p:nvSpPr>
        <p:spPr>
          <a:xfrm>
            <a:off x="8321040" y="4663440"/>
            <a:ext cx="356616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1"/>
          <p:cNvSpPr/>
          <p:nvPr/>
        </p:nvSpPr>
        <p:spPr>
          <a:xfrm>
            <a:off x="8549640" y="493776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" id="921" name="Google Shape;92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1314" y="50694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41"/>
          <p:cNvSpPr txBox="1"/>
          <p:nvPr/>
        </p:nvSpPr>
        <p:spPr>
          <a:xfrm>
            <a:off x="9235440" y="466344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Victims view page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 runs for each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1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2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TYPE 2 · REFLECTED</a:t>
            </a:r>
            <a:endParaRPr sz="1200"/>
          </a:p>
        </p:txBody>
      </p:sp>
      <p:sp>
        <p:nvSpPr>
          <p:cNvPr id="930" name="Google Shape;930;p42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Reflected XSS</a:t>
            </a:r>
            <a:endParaRPr sz="3200"/>
          </a:p>
        </p:txBody>
      </p:sp>
      <p:sp>
        <p:nvSpPr>
          <p:cNvPr id="931" name="Google Shape;931;p42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payload is echoed straight back from the request. The attacker delivers it with a crafted link.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2"/>
          <p:cNvSpPr txBox="1"/>
          <p:nvPr/>
        </p:nvSpPr>
        <p:spPr>
          <a:xfrm>
            <a:off x="548640" y="2194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Vulnerable: a search term echoed without encoding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2"/>
          <p:cNvSpPr/>
          <p:nvPr/>
        </p:nvSpPr>
        <p:spPr>
          <a:xfrm>
            <a:off x="548640" y="2560320"/>
            <a:ext cx="11091672" cy="1920240"/>
          </a:xfrm>
          <a:prstGeom prst="roundRect">
            <a:avLst>
              <a:gd fmla="val 38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2"/>
          <p:cNvSpPr txBox="1"/>
          <p:nvPr/>
        </p:nvSpPr>
        <p:spPr>
          <a:xfrm>
            <a:off x="777240" y="2706624"/>
            <a:ext cx="10634472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/search?q=&lt;input&gt;  — the app echoes q back into the page: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page += "&lt;p&gt;No results for: " + q + "&lt;/p&gt;";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attacker crafts and sends this link to the victim: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https://trusted.site/search?q=&lt;script&gt;...&lt;/script&gt;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2"/>
          <p:cNvSpPr/>
          <p:nvPr/>
        </p:nvSpPr>
        <p:spPr>
          <a:xfrm>
            <a:off x="548640" y="466344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2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ink" id="937" name="Google Shape;9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914" y="50694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42"/>
          <p:cNvSpPr txBox="1"/>
          <p:nvPr/>
        </p:nvSpPr>
        <p:spPr>
          <a:xfrm>
            <a:off x="1463040" y="4663440"/>
            <a:ext cx="4343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Needs a lure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victim must click the crafted link (phishing email, link on another site).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2"/>
          <p:cNvSpPr/>
          <p:nvPr/>
        </p:nvSpPr>
        <p:spPr>
          <a:xfrm>
            <a:off x="6199632" y="466344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2"/>
          <p:cNvSpPr/>
          <p:nvPr/>
        </p:nvSpPr>
        <p:spPr>
          <a:xfrm>
            <a:off x="6428232" y="493776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hield" id="941" name="Google Shape;94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9906" y="50694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42"/>
          <p:cNvSpPr txBox="1"/>
          <p:nvPr/>
        </p:nvSpPr>
        <p:spPr>
          <a:xfrm>
            <a:off x="7114032" y="4663440"/>
            <a:ext cx="4343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Runs as the trusted site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the trusted origin reflects it, the script runs with that site's privileges.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2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3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TYPE 3 · DOM-BASED</a:t>
            </a:r>
            <a:endParaRPr sz="1200"/>
          </a:p>
        </p:txBody>
      </p:sp>
      <p:sp>
        <p:nvSpPr>
          <p:cNvPr id="950" name="Google Shape;950;p43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DOM-based XSS</a:t>
            </a:r>
            <a:endParaRPr sz="3200"/>
          </a:p>
        </p:txBody>
      </p:sp>
      <p:sp>
        <p:nvSpPr>
          <p:cNvPr id="951" name="Google Shape;951;p43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flaw is entirely in client-side JavaScript: input flows from a source into a dangerous sink.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3"/>
          <p:cNvSpPr txBox="1"/>
          <p:nvPr/>
        </p:nvSpPr>
        <p:spPr>
          <a:xfrm>
            <a:off x="548640" y="2194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Vulnerable: URL fragment written into innerHTML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3"/>
          <p:cNvSpPr/>
          <p:nvPr/>
        </p:nvSpPr>
        <p:spPr>
          <a:xfrm>
            <a:off x="548640" y="2560320"/>
            <a:ext cx="11091672" cy="1920240"/>
          </a:xfrm>
          <a:prstGeom prst="roundRect">
            <a:avLst>
              <a:gd fmla="val 38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3"/>
          <p:cNvSpPr txBox="1"/>
          <p:nvPr/>
        </p:nvSpPr>
        <p:spPr>
          <a:xfrm>
            <a:off x="777240" y="2706624"/>
            <a:ext cx="10634472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reads from a source (the URL hash) 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 name = location.hash.slice(1);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... and writes to a dangerous sink (parsed as HTML):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el.innerHTML = "Hi " + name;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opening  page#&lt;img src=x onerror=...&gt;  runs the script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3"/>
          <p:cNvSpPr/>
          <p:nvPr/>
        </p:nvSpPr>
        <p:spPr>
          <a:xfrm>
            <a:off x="548640" y="466344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3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ignInAlt" id="957" name="Google Shape;95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914" y="50694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43"/>
          <p:cNvSpPr txBox="1"/>
          <p:nvPr/>
        </p:nvSpPr>
        <p:spPr>
          <a:xfrm>
            <a:off x="1463040" y="4663440"/>
            <a:ext cx="4343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Sources (where input enters)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location.hash / .search, document.URL, referrer, postMessage.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3"/>
          <p:cNvSpPr/>
          <p:nvPr/>
        </p:nvSpPr>
        <p:spPr>
          <a:xfrm>
            <a:off x="6199632" y="466344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43"/>
          <p:cNvSpPr/>
          <p:nvPr/>
        </p:nvSpPr>
        <p:spPr>
          <a:xfrm>
            <a:off x="6428232" y="493776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ExclamationTriangle" id="961" name="Google Shape;96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9906" y="50694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43"/>
          <p:cNvSpPr txBox="1"/>
          <p:nvPr/>
        </p:nvSpPr>
        <p:spPr>
          <a:xfrm>
            <a:off x="7114032" y="4663440"/>
            <a:ext cx="4343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Dangerous sinks (where it runs)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innerHTML, outerHTML, document.write, eval, setTimeout(string).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3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4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WHAT ATTACKERS DO</a:t>
            </a:r>
            <a:endParaRPr sz="1200"/>
          </a:p>
        </p:txBody>
      </p:sp>
      <p:sp>
        <p:nvSpPr>
          <p:cNvPr id="970" name="Google Shape;970;p44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a successful XSS buys the attacker</a:t>
            </a:r>
            <a:endParaRPr sz="3200"/>
          </a:p>
        </p:txBody>
      </p:sp>
      <p:sp>
        <p:nvSpPr>
          <p:cNvPr id="971" name="Google Shape;971;p44"/>
          <p:cNvSpPr/>
          <p:nvPr/>
        </p:nvSpPr>
        <p:spPr>
          <a:xfrm>
            <a:off x="548640" y="182880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okieBite" id="973" name="Google Shape;97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79" y="22567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44"/>
          <p:cNvSpPr txBox="1"/>
          <p:nvPr/>
        </p:nvSpPr>
        <p:spPr>
          <a:xfrm>
            <a:off x="1645920" y="21031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Session hijacking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4"/>
          <p:cNvSpPr txBox="1"/>
          <p:nvPr/>
        </p:nvSpPr>
        <p:spPr>
          <a:xfrm>
            <a:off x="868680" y="288036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Steal cookies or tokens and take over the account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44"/>
          <p:cNvSpPr/>
          <p:nvPr/>
        </p:nvSpPr>
        <p:spPr>
          <a:xfrm>
            <a:off x="6172200" y="182880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4"/>
          <p:cNvSpPr/>
          <p:nvPr/>
        </p:nvSpPr>
        <p:spPr>
          <a:xfrm>
            <a:off x="6446520" y="210312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Keyboard" id="978" name="Google Shape;97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139" y="22567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44"/>
          <p:cNvSpPr txBox="1"/>
          <p:nvPr/>
        </p:nvSpPr>
        <p:spPr>
          <a:xfrm>
            <a:off x="7269480" y="21031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Keylogging &amp; data theft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4"/>
          <p:cNvSpPr txBox="1"/>
          <p:nvPr/>
        </p:nvSpPr>
        <p:spPr>
          <a:xfrm>
            <a:off x="6492240" y="288036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keystrokes, form data, page contents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4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4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Cog" id="983" name="Google Shape;98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579" y="4359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44"/>
          <p:cNvSpPr txBox="1"/>
          <p:nvPr/>
        </p:nvSpPr>
        <p:spPr>
          <a:xfrm>
            <a:off x="1645920" y="420624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Actions as the victim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4"/>
          <p:cNvSpPr txBox="1"/>
          <p:nvPr/>
        </p:nvSpPr>
        <p:spPr>
          <a:xfrm>
            <a:off x="868680" y="498348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email, post, transfer, as the logged-in user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4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4"/>
          <p:cNvSpPr/>
          <p:nvPr/>
        </p:nvSpPr>
        <p:spPr>
          <a:xfrm>
            <a:off x="6446520" y="420624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ug" id="988" name="Google Shape;988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139" y="4359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44"/>
          <p:cNvSpPr txBox="1"/>
          <p:nvPr/>
        </p:nvSpPr>
        <p:spPr>
          <a:xfrm>
            <a:off x="7269480" y="420624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Defacement &amp; worms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4"/>
          <p:cNvSpPr txBox="1"/>
          <p:nvPr/>
        </p:nvSpPr>
        <p:spPr>
          <a:xfrm>
            <a:off x="6492240" y="498348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Rewrite the page; stored payloads can self-propagate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4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5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IMPACT</a:t>
            </a:r>
            <a:endParaRPr sz="1200"/>
          </a:p>
        </p:txBody>
      </p:sp>
      <p:sp>
        <p:nvSpPr>
          <p:cNvPr id="998" name="Google Shape;998;p45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Why XSS matters</a:t>
            </a:r>
            <a:endParaRPr sz="3200"/>
          </a:p>
        </p:txBody>
      </p:sp>
      <p:sp>
        <p:nvSpPr>
          <p:cNvPr id="999" name="Google Shape;999;p45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fmla="val 533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5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ecret" id="1001" name="Google Shape;100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2786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45"/>
          <p:cNvSpPr txBox="1"/>
          <p:nvPr/>
        </p:nvSpPr>
        <p:spPr>
          <a:xfrm>
            <a:off x="1828800" y="1783080"/>
            <a:ext cx="9509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XSS breaks the trust between a user and a site: </a:t>
            </a:r>
            <a:r>
              <a:rPr b="1" i="0" lang="en-US" sz="19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the browser runs the attacker's code as if the site itself sent it.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5"/>
          <p:cNvSpPr/>
          <p:nvPr/>
        </p:nvSpPr>
        <p:spPr>
          <a:xfrm>
            <a:off x="548640" y="3383280"/>
            <a:ext cx="352044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5"/>
          <p:cNvSpPr/>
          <p:nvPr/>
        </p:nvSpPr>
        <p:spPr>
          <a:xfrm>
            <a:off x="822960" y="3657600"/>
            <a:ext cx="566928" cy="566928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nfinity" id="1005" name="Google Shape;100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023" y="379366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45"/>
          <p:cNvSpPr txBox="1"/>
          <p:nvPr/>
        </p:nvSpPr>
        <p:spPr>
          <a:xfrm>
            <a:off x="822960" y="434340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lure for stored XSS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5"/>
          <p:cNvSpPr txBox="1"/>
          <p:nvPr/>
        </p:nvSpPr>
        <p:spPr>
          <a:xfrm>
            <a:off x="822960" y="507492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stored payload hits every viewer automatically, including admins, enabling takeover.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5"/>
          <p:cNvSpPr/>
          <p:nvPr/>
        </p:nvSpPr>
        <p:spPr>
          <a:xfrm>
            <a:off x="4315968" y="3383280"/>
            <a:ext cx="352044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5"/>
          <p:cNvSpPr/>
          <p:nvPr/>
        </p:nvSpPr>
        <p:spPr>
          <a:xfrm>
            <a:off x="4590288" y="3657600"/>
            <a:ext cx="566928" cy="566928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hieldAlt" id="1010" name="Google Shape;1010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6351" y="379366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45"/>
          <p:cNvSpPr txBox="1"/>
          <p:nvPr/>
        </p:nvSpPr>
        <p:spPr>
          <a:xfrm>
            <a:off x="4590288" y="434340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HttpOnly is not enough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5"/>
          <p:cNvSpPr txBox="1"/>
          <p:nvPr/>
        </p:nvSpPr>
        <p:spPr>
          <a:xfrm>
            <a:off x="4590288" y="507492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stops cookie theft, but a script can still act as the user via on-page requests.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5"/>
          <p:cNvSpPr/>
          <p:nvPr/>
        </p:nvSpPr>
        <p:spPr>
          <a:xfrm>
            <a:off x="8083296" y="3383280"/>
            <a:ext cx="352044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5"/>
          <p:cNvSpPr/>
          <p:nvPr/>
        </p:nvSpPr>
        <p:spPr>
          <a:xfrm>
            <a:off x="8357616" y="3657600"/>
            <a:ext cx="566928" cy="566928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hartBar" id="1015" name="Google Shape;1015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93679" y="379366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45"/>
          <p:cNvSpPr txBox="1"/>
          <p:nvPr/>
        </p:nvSpPr>
        <p:spPr>
          <a:xfrm>
            <a:off x="8357616" y="434340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Still everywhere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5"/>
          <p:cNvSpPr txBox="1"/>
          <p:nvPr/>
        </p:nvSpPr>
        <p:spPr>
          <a:xfrm>
            <a:off x="8357616" y="507492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XSS remains among the most common web vulnerabilities found in testing.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5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46"/>
          <p:cNvSpPr txBox="1"/>
          <p:nvPr>
            <p:ph type="title"/>
          </p:nvPr>
        </p:nvSpPr>
        <p:spPr>
          <a:xfrm>
            <a:off x="822960" y="274320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chemeClr val="lt1"/>
                </a:solidFill>
              </a:rPr>
              <a:t>Defending against it</a:t>
            </a:r>
            <a:endParaRPr sz="3800"/>
          </a:p>
        </p:txBody>
      </p:sp>
      <p:sp>
        <p:nvSpPr>
          <p:cNvPr id="1025" name="Google Shape;1025;p46"/>
          <p:cNvSpPr txBox="1"/>
          <p:nvPr>
            <p:ph idx="1" type="body"/>
          </p:nvPr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</a:rPr>
              <a:t>Treat input as data: encode on output, and add a CSP</a:t>
            </a:r>
            <a:endParaRPr sz="1800"/>
          </a:p>
        </p:txBody>
      </p:sp>
      <p:sp>
        <p:nvSpPr>
          <p:cNvPr id="1026" name="Google Shape;1026;p46"/>
          <p:cNvSpPr/>
          <p:nvPr/>
        </p:nvSpPr>
        <p:spPr>
          <a:xfrm>
            <a:off x="8732520" y="1920240"/>
            <a:ext cx="2651760" cy="2651760"/>
          </a:xfrm>
          <a:prstGeom prst="ellipse">
            <a:avLst/>
          </a:prstGeom>
          <a:solidFill>
            <a:schemeClr val="dk2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hieldAlt" id="1027" name="Google Shape;102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0" y="260604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46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7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THE CORE FIX</a:t>
            </a:r>
            <a:endParaRPr sz="1200"/>
          </a:p>
        </p:txBody>
      </p:sp>
      <p:sp>
        <p:nvSpPr>
          <p:cNvPr id="1035" name="Google Shape;1035;p47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Context-aware output encoding</a:t>
            </a:r>
            <a:endParaRPr sz="3200"/>
          </a:p>
        </p:txBody>
      </p:sp>
      <p:sp>
        <p:nvSpPr>
          <p:cNvPr id="1036" name="Google Shape;1036;p47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 untrusted data for the exact context where it is placed, so the browser treats it as text.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7"/>
          <p:cNvSpPr txBox="1"/>
          <p:nvPr/>
        </p:nvSpPr>
        <p:spPr>
          <a:xfrm>
            <a:off x="548640" y="2240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The same payload, encoded for HTML body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7"/>
          <p:cNvSpPr/>
          <p:nvPr/>
        </p:nvSpPr>
        <p:spPr>
          <a:xfrm>
            <a:off x="548640" y="2560320"/>
            <a:ext cx="11091672" cy="1371600"/>
          </a:xfrm>
          <a:prstGeom prst="roundRect">
            <a:avLst>
              <a:gd fmla="val 533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7"/>
          <p:cNvSpPr txBox="1"/>
          <p:nvPr/>
        </p:nvSpPr>
        <p:spPr>
          <a:xfrm>
            <a:off x="777240" y="2706624"/>
            <a:ext cx="1063447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input:   &lt;script&gt;evil()&lt;/script&gt;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encoded: &amp;lt;script&amp;gt;evil()&amp;lt;/script&amp;gt;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the browser shows it as text; no tag is created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7"/>
          <p:cNvSpPr txBox="1"/>
          <p:nvPr/>
        </p:nvSpPr>
        <p:spPr>
          <a:xfrm>
            <a:off x="548640" y="4114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Encoding depends on the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7"/>
          <p:cNvSpPr/>
          <p:nvPr/>
        </p:nvSpPr>
        <p:spPr>
          <a:xfrm>
            <a:off x="548640" y="4526280"/>
            <a:ext cx="5440680" cy="658368"/>
          </a:xfrm>
          <a:prstGeom prst="roundRect">
            <a:avLst>
              <a:gd fmla="val 1111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7"/>
          <p:cNvSpPr txBox="1"/>
          <p:nvPr/>
        </p:nvSpPr>
        <p:spPr>
          <a:xfrm>
            <a:off x="777240" y="4526280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HTML body: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HTML-entity encode &lt; &gt; &amp; " 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7"/>
          <p:cNvSpPr/>
          <p:nvPr/>
        </p:nvSpPr>
        <p:spPr>
          <a:xfrm>
            <a:off x="6172200" y="4526280"/>
            <a:ext cx="5440680" cy="658368"/>
          </a:xfrm>
          <a:prstGeom prst="roundRect">
            <a:avLst>
              <a:gd fmla="val 1111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47"/>
          <p:cNvSpPr txBox="1"/>
          <p:nvPr/>
        </p:nvSpPr>
        <p:spPr>
          <a:xfrm>
            <a:off x="6400800" y="4526280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HTML attribute: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attribute-encode, always quote the value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7"/>
          <p:cNvSpPr/>
          <p:nvPr/>
        </p:nvSpPr>
        <p:spPr>
          <a:xfrm>
            <a:off x="548640" y="5303520"/>
            <a:ext cx="5440680" cy="658368"/>
          </a:xfrm>
          <a:prstGeom prst="roundRect">
            <a:avLst>
              <a:gd fmla="val 1111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7"/>
          <p:cNvSpPr txBox="1"/>
          <p:nvPr/>
        </p:nvSpPr>
        <p:spPr>
          <a:xfrm>
            <a:off x="777240" y="5303520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JavaScript: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JS-string / JSON encode, avoid inline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7"/>
          <p:cNvSpPr/>
          <p:nvPr/>
        </p:nvSpPr>
        <p:spPr>
          <a:xfrm>
            <a:off x="6172200" y="5303520"/>
            <a:ext cx="5440680" cy="658368"/>
          </a:xfrm>
          <a:prstGeom prst="roundRect">
            <a:avLst>
              <a:gd fmla="val 1111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7"/>
          <p:cNvSpPr txBox="1"/>
          <p:nvPr/>
        </p:nvSpPr>
        <p:spPr>
          <a:xfrm>
            <a:off x="6400800" y="5303520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URL: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URL-encode, and validate the scheme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7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48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DEFENSES</a:t>
            </a:r>
            <a:endParaRPr sz="1200"/>
          </a:p>
        </p:txBody>
      </p:sp>
      <p:sp>
        <p:nvSpPr>
          <p:cNvPr id="1056" name="Google Shape;1056;p48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The defense hierarchy</a:t>
            </a:r>
            <a:endParaRPr sz="3200"/>
          </a:p>
        </p:txBody>
      </p:sp>
      <p:sp>
        <p:nvSpPr>
          <p:cNvPr id="1057" name="Google Shape;1057;p48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8"/>
          <p:cNvSpPr/>
          <p:nvPr/>
        </p:nvSpPr>
        <p:spPr>
          <a:xfrm>
            <a:off x="777240" y="2039112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8"/>
          <p:cNvSpPr txBox="1"/>
          <p:nvPr/>
        </p:nvSpPr>
        <p:spPr>
          <a:xfrm>
            <a:off x="777240" y="2039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8"/>
          <p:cNvSpPr/>
          <p:nvPr/>
        </p:nvSpPr>
        <p:spPr>
          <a:xfrm>
            <a:off x="1463040" y="2039112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de" id="1061" name="Google Shape;106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768" y="2148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48"/>
          <p:cNvSpPr txBox="1"/>
          <p:nvPr/>
        </p:nvSpPr>
        <p:spPr>
          <a:xfrm>
            <a:off x="2148840" y="1783080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Output encoding + auto-escape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8"/>
          <p:cNvSpPr txBox="1"/>
          <p:nvPr/>
        </p:nvSpPr>
        <p:spPr>
          <a:xfrm>
            <a:off x="5852160" y="1783080"/>
            <a:ext cx="5577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Context-aware encoding; rely on a framework (React, Angular) that escapes by default.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8"/>
          <p:cNvSpPr/>
          <p:nvPr/>
        </p:nvSpPr>
        <p:spPr>
          <a:xfrm>
            <a:off x="548640" y="2862072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8"/>
          <p:cNvSpPr/>
          <p:nvPr/>
        </p:nvSpPr>
        <p:spPr>
          <a:xfrm>
            <a:off x="548640" y="2862072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8"/>
          <p:cNvSpPr/>
          <p:nvPr/>
        </p:nvSpPr>
        <p:spPr>
          <a:xfrm>
            <a:off x="777240" y="3118104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8"/>
          <p:cNvSpPr txBox="1"/>
          <p:nvPr/>
        </p:nvSpPr>
        <p:spPr>
          <a:xfrm>
            <a:off x="777240" y="3118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8"/>
          <p:cNvSpPr/>
          <p:nvPr/>
        </p:nvSpPr>
        <p:spPr>
          <a:xfrm>
            <a:off x="1463040" y="3118104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room" id="1069" name="Google Shape;106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2768" y="322783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48"/>
          <p:cNvSpPr txBox="1"/>
          <p:nvPr/>
        </p:nvSpPr>
        <p:spPr>
          <a:xfrm>
            <a:off x="2148840" y="2862072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Sanitize rich HTML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8"/>
          <p:cNvSpPr txBox="1"/>
          <p:nvPr/>
        </p:nvSpPr>
        <p:spPr>
          <a:xfrm>
            <a:off x="5852160" y="2862072"/>
            <a:ext cx="5577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 must allow HTML, use a vetted sanitizer (DOMPurify); never a home-made filter.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8"/>
          <p:cNvSpPr/>
          <p:nvPr/>
        </p:nvSpPr>
        <p:spPr>
          <a:xfrm>
            <a:off x="548640" y="3941064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8"/>
          <p:cNvSpPr/>
          <p:nvPr/>
        </p:nvSpPr>
        <p:spPr>
          <a:xfrm>
            <a:off x="548640" y="3941064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48"/>
          <p:cNvSpPr/>
          <p:nvPr/>
        </p:nvSpPr>
        <p:spPr>
          <a:xfrm>
            <a:off x="777240" y="4197096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48"/>
          <p:cNvSpPr txBox="1"/>
          <p:nvPr/>
        </p:nvSpPr>
        <p:spPr>
          <a:xfrm>
            <a:off x="777240" y="4197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8"/>
          <p:cNvSpPr/>
          <p:nvPr/>
        </p:nvSpPr>
        <p:spPr>
          <a:xfrm>
            <a:off x="1463040" y="4197096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hieldVirus" id="1077" name="Google Shape;107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2768" y="43068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8"/>
          <p:cNvSpPr txBox="1"/>
          <p:nvPr/>
        </p:nvSpPr>
        <p:spPr>
          <a:xfrm>
            <a:off x="2148840" y="3941064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Content Security Policy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8"/>
          <p:cNvSpPr txBox="1"/>
          <p:nvPr/>
        </p:nvSpPr>
        <p:spPr>
          <a:xfrm>
            <a:off x="5852160" y="3941064"/>
            <a:ext cx="5577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strong second layer: block inline scripts and unauthorized sources.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8"/>
          <p:cNvSpPr/>
          <p:nvPr/>
        </p:nvSpPr>
        <p:spPr>
          <a:xfrm>
            <a:off x="548640" y="5020056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48"/>
          <p:cNvSpPr/>
          <p:nvPr/>
        </p:nvSpPr>
        <p:spPr>
          <a:xfrm>
            <a:off x="548640" y="5020056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8"/>
          <p:cNvSpPr/>
          <p:nvPr/>
        </p:nvSpPr>
        <p:spPr>
          <a:xfrm>
            <a:off x="777240" y="527608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48"/>
          <p:cNvSpPr txBox="1"/>
          <p:nvPr/>
        </p:nvSpPr>
        <p:spPr>
          <a:xfrm>
            <a:off x="777240" y="5276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8"/>
          <p:cNvSpPr/>
          <p:nvPr/>
        </p:nvSpPr>
        <p:spPr>
          <a:xfrm>
            <a:off x="1463040" y="527608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okie" id="1085" name="Google Shape;1085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2768" y="53858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48"/>
          <p:cNvSpPr txBox="1"/>
          <p:nvPr/>
        </p:nvSpPr>
        <p:spPr>
          <a:xfrm>
            <a:off x="2148840" y="5020056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HttpOnly cookies + safe sinks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48"/>
          <p:cNvSpPr txBox="1"/>
          <p:nvPr/>
        </p:nvSpPr>
        <p:spPr>
          <a:xfrm>
            <a:off x="5852160" y="5020056"/>
            <a:ext cx="5577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HttpOnly stops cookie theft; avoid innerHTML/eval, use textContent and safe DOM APIs.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8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Encode on output first; CSP and HttpOnly are layers that contain what slips through.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8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49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DEFENSES</a:t>
            </a:r>
            <a:endParaRPr sz="1200"/>
          </a:p>
        </p:txBody>
      </p:sp>
      <p:sp>
        <p:nvSpPr>
          <p:cNvPr id="1096" name="Google Shape;1096;p49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Pitfalls that re-open the hole</a:t>
            </a:r>
            <a:endParaRPr sz="3200"/>
          </a:p>
        </p:txBody>
      </p:sp>
      <p:sp>
        <p:nvSpPr>
          <p:cNvPr id="1097" name="Google Shape;1097;p49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Encoding helps only if it matches the context and is applied everywhere. These bring the bug back: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49"/>
          <p:cNvSpPr/>
          <p:nvPr/>
        </p:nvSpPr>
        <p:spPr>
          <a:xfrm>
            <a:off x="548640" y="2240280"/>
            <a:ext cx="11091672" cy="1645920"/>
          </a:xfrm>
          <a:prstGeom prst="roundRect">
            <a:avLst>
              <a:gd fmla="val 444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49"/>
          <p:cNvSpPr txBox="1"/>
          <p:nvPr/>
        </p:nvSpPr>
        <p:spPr>
          <a:xfrm>
            <a:off x="777240" y="2386584"/>
            <a:ext cx="1063447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el.innerHTML = userInput;                        </a:t>
            </a: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raw HTML sink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&lt;div dangerouslySetInnerHTML={{__html: userInput}}/&gt;</a:t>
            </a: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React escape hatch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&lt;script&gt;var x = '&lt;%= htmlEncode(input) %&gt;'&lt;/script&gt; </a:t>
            </a: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// wrong context: HTML-encoded inside 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9"/>
          <p:cNvSpPr/>
          <p:nvPr/>
        </p:nvSpPr>
        <p:spPr>
          <a:xfrm>
            <a:off x="548640" y="4069080"/>
            <a:ext cx="5440680" cy="146304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49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1102" name="Google Shape;110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44183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49"/>
          <p:cNvSpPr txBox="1"/>
          <p:nvPr/>
        </p:nvSpPr>
        <p:spPr>
          <a:xfrm>
            <a:off x="1417320" y="4206240"/>
            <a:ext cx="4434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Wrong-context encoding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HTML-encoding a value placed inside a script or URL does not make it safe. Match the context.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9"/>
          <p:cNvSpPr/>
          <p:nvPr/>
        </p:nvSpPr>
        <p:spPr>
          <a:xfrm>
            <a:off x="6199632" y="4069080"/>
            <a:ext cx="5440680" cy="146304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9"/>
          <p:cNvSpPr/>
          <p:nvPr/>
        </p:nvSpPr>
        <p:spPr>
          <a:xfrm>
            <a:off x="6428232" y="429768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1106" name="Google Shape;110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933" y="44183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49"/>
          <p:cNvSpPr txBox="1"/>
          <p:nvPr/>
        </p:nvSpPr>
        <p:spPr>
          <a:xfrm>
            <a:off x="7068312" y="4206240"/>
            <a:ext cx="4434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Blacklisting "script"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that strip &lt;script&gt; miss &lt;img onerror=...&gt;, &lt;svg onload=...&gt; and many more. Encode, don't blacklist.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9"/>
          <p:cNvSpPr/>
          <p:nvPr/>
        </p:nvSpPr>
        <p:spPr>
          <a:xfrm>
            <a:off x="548640" y="5669280"/>
            <a:ext cx="11091672" cy="457200"/>
          </a:xfrm>
          <a:prstGeom prst="roundRect">
            <a:avLst>
              <a:gd fmla="val 16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49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rule: encode for the right context  +  prefer safe sinks  +  sanitize rich HTML with a vetted library.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9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50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 IN DEPTH</a:t>
            </a:r>
            <a:endParaRPr sz="1200"/>
          </a:p>
        </p:txBody>
      </p:sp>
      <p:sp>
        <p:nvSpPr>
          <p:cNvPr id="1117" name="Google Shape;1117;p50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defenders can watch for</a:t>
            </a:r>
            <a:endParaRPr sz="3200"/>
          </a:p>
        </p:txBody>
      </p:sp>
      <p:sp>
        <p:nvSpPr>
          <p:cNvPr id="1118" name="Google Shape;1118;p50"/>
          <p:cNvSpPr/>
          <p:nvPr/>
        </p:nvSpPr>
        <p:spPr>
          <a:xfrm>
            <a:off x="548640" y="18288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50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earch" id="1120" name="Google Shape;112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634" y="22805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50"/>
          <p:cNvSpPr txBox="1"/>
          <p:nvPr/>
        </p:nvSpPr>
        <p:spPr>
          <a:xfrm>
            <a:off x="1600200" y="18288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Script syntax in inputs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50"/>
          <p:cNvSpPr txBox="1"/>
          <p:nvPr/>
        </p:nvSpPr>
        <p:spPr>
          <a:xfrm>
            <a:off x="5760720" y="182880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 brackets, onerror=, javascript: in fields that should be plain text: a classic WAF signal.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50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50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fmla="val 6154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50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Flag" id="1126" name="Google Shape;112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634" y="36521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50"/>
          <p:cNvSpPr txBox="1"/>
          <p:nvPr/>
        </p:nvSpPr>
        <p:spPr>
          <a:xfrm>
            <a:off x="1600200" y="32004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CSP violation reports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50"/>
          <p:cNvSpPr txBox="1"/>
          <p:nvPr/>
        </p:nvSpPr>
        <p:spPr>
          <a:xfrm>
            <a:off x="5760720" y="320040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report-only or enforced CSP flags blocked inline and unauthorized scripts in real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0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50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tream" id="1131" name="Google Shape;1131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34" y="5023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50"/>
          <p:cNvSpPr txBox="1"/>
          <p:nvPr/>
        </p:nvSpPr>
        <p:spPr>
          <a:xfrm>
            <a:off x="1600200" y="45720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Trace data to the page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0"/>
          <p:cNvSpPr txBox="1"/>
          <p:nvPr/>
        </p:nvSpPr>
        <p:spPr>
          <a:xfrm>
            <a:off x="5760720" y="457200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every point where user data reaches the page: server templates and client-side sinks.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0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51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51"/>
          <p:cNvSpPr txBox="1"/>
          <p:nvPr/>
        </p:nvSpPr>
        <p:spPr>
          <a:xfrm>
            <a:off x="822960" y="10972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51"/>
          <p:cNvSpPr/>
          <p:nvPr/>
        </p:nvSpPr>
        <p:spPr>
          <a:xfrm>
            <a:off x="9144000" y="868680"/>
            <a:ext cx="2194560" cy="2194560"/>
          </a:xfrm>
          <a:prstGeom prst="ellipse">
            <a:avLst/>
          </a:prstGeom>
          <a:solidFill>
            <a:srgbClr val="16243D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de" id="1143" name="Google Shape;114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8360" y="146304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51"/>
          <p:cNvSpPr txBox="1"/>
          <p:nvPr/>
        </p:nvSpPr>
        <p:spPr>
          <a:xfrm>
            <a:off x="822960" y="3246120"/>
            <a:ext cx="10515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XSS runs an attacker's script in another user's browser as the trusted site (CWE-79, OWASP Injection).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victim is a user, not the server; the script acts with the site's privileges.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Three types: stored (served to all), reflected (crafted link), DOM-based (client-side sink).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Impact: session hijacking, keylogging, actions as the victim, defacement, self-propagating worms.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Fix by context-aware output encoding (framework auto-escape), plus CSP, sanitizers and HttpOnly cookies.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51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IT-30001 Cyber Security  ·  Module 3  ·  Web Server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2"/>
          <p:cNvSpPr txBox="1"/>
          <p:nvPr>
            <p:ph idx="1" type="body"/>
          </p:nvPr>
        </p:nvSpPr>
        <p:spPr>
          <a:xfrm>
            <a:off x="822960" y="13716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b="1" lang="en-US" sz="1400">
                <a:solidFill>
                  <a:schemeClr val="accent1"/>
                </a:solidFill>
              </a:rPr>
              <a:t>CYBER SECURITY · IT-30001 · MODULE 3 · WEB SERVER SECURITY</a:t>
            </a:r>
            <a:endParaRPr sz="1400"/>
          </a:p>
        </p:txBody>
      </p:sp>
      <p:sp>
        <p:nvSpPr>
          <p:cNvPr id="1152" name="Google Shape;1152;p52"/>
          <p:cNvSpPr txBox="1"/>
          <p:nvPr/>
        </p:nvSpPr>
        <p:spPr>
          <a:xfrm>
            <a:off x="822960" y="201168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Cross-Site Request Forgery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52"/>
          <p:cNvSpPr txBox="1"/>
          <p:nvPr>
            <p:ph idx="2" type="body"/>
          </p:nvPr>
        </p:nvSpPr>
        <p:spPr>
          <a:xfrm>
            <a:off x="822960" y="370332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</a:pPr>
            <a:r>
              <a:rPr i="1" lang="en-US" sz="2100">
                <a:solidFill>
                  <a:schemeClr val="accent6"/>
                </a:solidFill>
              </a:rPr>
              <a:t>Riding a victim's session to forge an action (CSRF)</a:t>
            </a:r>
            <a:endParaRPr sz="2100"/>
          </a:p>
        </p:txBody>
      </p:sp>
      <p:sp>
        <p:nvSpPr>
          <p:cNvPr id="1154" name="Google Shape;1154;p52"/>
          <p:cNvSpPr/>
          <p:nvPr/>
        </p:nvSpPr>
        <p:spPr>
          <a:xfrm>
            <a:off x="8869680" y="1828800"/>
            <a:ext cx="2743200" cy="274320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xchange" id="1155" name="Google Shape;115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480" y="2606040"/>
            <a:ext cx="137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53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DEFINITION</a:t>
            </a:r>
            <a:endParaRPr sz="1200"/>
          </a:p>
        </p:txBody>
      </p:sp>
      <p:sp>
        <p:nvSpPr>
          <p:cNvPr id="1162" name="Google Shape;1162;p53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is cross-site request forgery?</a:t>
            </a:r>
            <a:endParaRPr sz="3200"/>
          </a:p>
        </p:txBody>
      </p:sp>
      <p:sp>
        <p:nvSpPr>
          <p:cNvPr id="1163" name="Google Shape;1163;p53"/>
          <p:cNvSpPr/>
          <p:nvPr/>
        </p:nvSpPr>
        <p:spPr>
          <a:xfrm>
            <a:off x="548640" y="1737360"/>
            <a:ext cx="6675120" cy="2286000"/>
          </a:xfrm>
          <a:prstGeom prst="roundRect">
            <a:avLst>
              <a:gd fmla="val 32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53"/>
          <p:cNvSpPr txBox="1"/>
          <p:nvPr/>
        </p:nvSpPr>
        <p:spPr>
          <a:xfrm>
            <a:off x="868680" y="1920240"/>
            <a:ext cx="6035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 victim's browser is tricked into sending a state-changing request to a site where they are logged in, </a:t>
            </a:r>
            <a:r>
              <a:rPr b="1" i="0" lang="en-US" sz="19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and the browser attaches their session automatically.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53"/>
          <p:cNvSpPr/>
          <p:nvPr/>
        </p:nvSpPr>
        <p:spPr>
          <a:xfrm>
            <a:off x="7498080" y="1737360"/>
            <a:ext cx="4142232" cy="1078992"/>
          </a:xfrm>
          <a:prstGeom prst="roundRect">
            <a:avLst>
              <a:gd fmla="val 6780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53"/>
          <p:cNvSpPr/>
          <p:nvPr/>
        </p:nvSpPr>
        <p:spPr>
          <a:xfrm>
            <a:off x="7699248" y="1956816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Hashtag" id="1167" name="Google Shape;116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976" y="20665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53"/>
          <p:cNvSpPr txBox="1"/>
          <p:nvPr/>
        </p:nvSpPr>
        <p:spPr>
          <a:xfrm>
            <a:off x="8321040" y="18288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CWE-352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Cross-site request forgery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53"/>
          <p:cNvSpPr/>
          <p:nvPr/>
        </p:nvSpPr>
        <p:spPr>
          <a:xfrm>
            <a:off x="7498080" y="2944368"/>
            <a:ext cx="4142232" cy="1078992"/>
          </a:xfrm>
          <a:prstGeom prst="roundRect">
            <a:avLst>
              <a:gd fmla="val 678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53"/>
          <p:cNvSpPr/>
          <p:nvPr/>
        </p:nvSpPr>
        <p:spPr>
          <a:xfrm>
            <a:off x="7699248" y="3163824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istOl" id="1171" name="Google Shape;117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8976" y="32735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53"/>
          <p:cNvSpPr txBox="1"/>
          <p:nvPr/>
        </p:nvSpPr>
        <p:spPr>
          <a:xfrm>
            <a:off x="8321040" y="3035808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OWASP history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standalone Top-10 entry; folded in by 2021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53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53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CSRF versus XSS, often confused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53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de" id="1176" name="Google Shape;1176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914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53"/>
          <p:cNvSpPr txBox="1"/>
          <p:nvPr/>
        </p:nvSpPr>
        <p:spPr>
          <a:xfrm>
            <a:off x="1508760" y="4937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XSS  —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attacker script in the browser; can read data and 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53"/>
          <p:cNvSpPr/>
          <p:nvPr/>
        </p:nvSpPr>
        <p:spPr>
          <a:xfrm>
            <a:off x="6263640" y="498348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ExchangeAlt" id="1179" name="Google Shape;1179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5314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53"/>
          <p:cNvSpPr txBox="1"/>
          <p:nvPr/>
        </p:nvSpPr>
        <p:spPr>
          <a:xfrm>
            <a:off x="6995160" y="4937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CSRF  — 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forges one request using the existing session; reads nothing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53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54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ROOT CAUSE</a:t>
            </a:r>
            <a:endParaRPr sz="1200"/>
          </a:p>
        </p:txBody>
      </p:sp>
      <p:sp>
        <p:nvSpPr>
          <p:cNvPr id="1188" name="Google Shape;1188;p54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The browser sends credentials automatically</a:t>
            </a:r>
            <a:endParaRPr sz="3200"/>
          </a:p>
        </p:txBody>
      </p:sp>
      <p:sp>
        <p:nvSpPr>
          <p:cNvPr id="1189" name="Google Shape;1189;p54"/>
          <p:cNvSpPr txBox="1"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browser attaches a site's cookies to every request to that site, whichever page triggered it. So a forged request carries the victim's session just like a genuine one.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54"/>
          <p:cNvSpPr/>
          <p:nvPr/>
        </p:nvSpPr>
        <p:spPr>
          <a:xfrm>
            <a:off x="548640" y="2606040"/>
            <a:ext cx="5440680" cy="3429000"/>
          </a:xfrm>
          <a:prstGeom prst="roundRect">
            <a:avLst>
              <a:gd fmla="val 21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54"/>
          <p:cNvSpPr/>
          <p:nvPr/>
        </p:nvSpPr>
        <p:spPr>
          <a:xfrm>
            <a:off x="822960" y="2880360"/>
            <a:ext cx="640080" cy="64008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okieBite" id="1192" name="Google Shape;119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79" y="303397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54"/>
          <p:cNvSpPr txBox="1"/>
          <p:nvPr/>
        </p:nvSpPr>
        <p:spPr>
          <a:xfrm>
            <a:off x="1645920" y="29260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Ambient authority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54"/>
          <p:cNvSpPr txBox="1"/>
          <p:nvPr/>
        </p:nvSpPr>
        <p:spPr>
          <a:xfrm>
            <a:off x="868680" y="365760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Cookies ride along with every request to their site, set automatically by the browser.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request's origin (which page sent it) does not change that.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server sees a valid session and treats the request as genuine.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54"/>
          <p:cNvSpPr/>
          <p:nvPr/>
        </p:nvSpPr>
        <p:spPr>
          <a:xfrm>
            <a:off x="6199632" y="2606040"/>
            <a:ext cx="5440680" cy="3429000"/>
          </a:xfrm>
          <a:prstGeom prst="roundRect">
            <a:avLst>
              <a:gd fmla="val 213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54"/>
          <p:cNvSpPr/>
          <p:nvPr/>
        </p:nvSpPr>
        <p:spPr>
          <a:xfrm>
            <a:off x="6473952" y="288036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ecret" id="1197" name="Google Shape;119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7571" y="303397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54"/>
          <p:cNvSpPr txBox="1"/>
          <p:nvPr/>
        </p:nvSpPr>
        <p:spPr>
          <a:xfrm>
            <a:off x="7296912" y="29260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The confused deputy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54"/>
          <p:cNvSpPr txBox="1"/>
          <p:nvPr/>
        </p:nvSpPr>
        <p:spPr>
          <a:xfrm>
            <a:off x="6519672" y="365760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browser is a </a:t>
            </a: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deputy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holding the victim's authority (their session). The attacker's page tricks it into using that authority to act, without ever seeing the session value itself.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54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55"/>
          <p:cNvSpPr txBox="1"/>
          <p:nvPr>
            <p:ph type="title"/>
          </p:nvPr>
        </p:nvSpPr>
        <p:spPr>
          <a:xfrm>
            <a:off x="822960" y="274320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chemeClr val="lt1"/>
                </a:solidFill>
              </a:rPr>
              <a:t>How the attack works</a:t>
            </a:r>
            <a:endParaRPr sz="3800"/>
          </a:p>
        </p:txBody>
      </p:sp>
      <p:sp>
        <p:nvSpPr>
          <p:cNvPr id="1207" name="Google Shape;1207;p55"/>
          <p:cNvSpPr txBox="1"/>
          <p:nvPr>
            <p:ph idx="1" type="body"/>
          </p:nvPr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</a:rPr>
              <a:t>A logged-in victim visits a malicious page</a:t>
            </a:r>
            <a:endParaRPr sz="1800"/>
          </a:p>
        </p:txBody>
      </p:sp>
      <p:sp>
        <p:nvSpPr>
          <p:cNvPr id="1208" name="Google Shape;1208;p55"/>
          <p:cNvSpPr/>
          <p:nvPr/>
        </p:nvSpPr>
        <p:spPr>
          <a:xfrm>
            <a:off x="8732520" y="1920240"/>
            <a:ext cx="2651760" cy="2651760"/>
          </a:xfrm>
          <a:prstGeom prst="ellipse">
            <a:avLst/>
          </a:prstGeom>
          <a:solidFill>
            <a:schemeClr val="dk2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itemap" id="1209" name="Google Shape;12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0" y="260604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55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56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HOW IT WORKS</a:t>
            </a:r>
            <a:endParaRPr sz="1200"/>
          </a:p>
        </p:txBody>
      </p:sp>
      <p:sp>
        <p:nvSpPr>
          <p:cNvPr id="1217" name="Google Shape;1217;p56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The CSRF attack flow</a:t>
            </a:r>
            <a:endParaRPr sz="3200"/>
          </a:p>
        </p:txBody>
      </p:sp>
      <p:sp>
        <p:nvSpPr>
          <p:cNvPr id="1218" name="Google Shape;1218;p56"/>
          <p:cNvSpPr/>
          <p:nvPr/>
        </p:nvSpPr>
        <p:spPr>
          <a:xfrm>
            <a:off x="548640" y="1920240"/>
            <a:ext cx="2651760" cy="338328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56"/>
          <p:cNvSpPr/>
          <p:nvPr/>
        </p:nvSpPr>
        <p:spPr>
          <a:xfrm>
            <a:off x="1531620" y="2194560"/>
            <a:ext cx="685800" cy="685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ignInAlt" id="1220" name="Google Shape;12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212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56"/>
          <p:cNvSpPr/>
          <p:nvPr/>
        </p:nvSpPr>
        <p:spPr>
          <a:xfrm>
            <a:off x="731520" y="2148840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56"/>
          <p:cNvSpPr txBox="1"/>
          <p:nvPr/>
        </p:nvSpPr>
        <p:spPr>
          <a:xfrm>
            <a:off x="731520" y="2148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6"/>
          <p:cNvSpPr txBox="1"/>
          <p:nvPr/>
        </p:nvSpPr>
        <p:spPr>
          <a:xfrm>
            <a:off x="731520" y="30632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Victim logs 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56"/>
          <p:cNvSpPr txBox="1"/>
          <p:nvPr/>
        </p:nvSpPr>
        <p:spPr>
          <a:xfrm>
            <a:off x="777240" y="379476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a live session cookie for the trusted site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56"/>
          <p:cNvSpPr txBox="1"/>
          <p:nvPr/>
        </p:nvSpPr>
        <p:spPr>
          <a:xfrm>
            <a:off x="3127248" y="3108960"/>
            <a:ext cx="411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56"/>
          <p:cNvSpPr/>
          <p:nvPr/>
        </p:nvSpPr>
        <p:spPr>
          <a:xfrm>
            <a:off x="3364992" y="1920240"/>
            <a:ext cx="2651760" cy="338328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56"/>
          <p:cNvSpPr/>
          <p:nvPr/>
        </p:nvSpPr>
        <p:spPr>
          <a:xfrm>
            <a:off x="4347972" y="2194560"/>
            <a:ext cx="685800" cy="685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MousePointer" id="1228" name="Google Shape;122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564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56"/>
          <p:cNvSpPr/>
          <p:nvPr/>
        </p:nvSpPr>
        <p:spPr>
          <a:xfrm>
            <a:off x="3547872" y="2148840"/>
            <a:ext cx="384048" cy="384048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56"/>
          <p:cNvSpPr txBox="1"/>
          <p:nvPr/>
        </p:nvSpPr>
        <p:spPr>
          <a:xfrm>
            <a:off x="3547872" y="2148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56"/>
          <p:cNvSpPr txBox="1"/>
          <p:nvPr/>
        </p:nvSpPr>
        <p:spPr>
          <a:xfrm>
            <a:off x="3547872" y="30632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Visits attacker page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56"/>
          <p:cNvSpPr txBox="1"/>
          <p:nvPr/>
        </p:nvSpPr>
        <p:spPr>
          <a:xfrm>
            <a:off x="3593592" y="379476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still logged in, in the same browser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56"/>
          <p:cNvSpPr txBox="1"/>
          <p:nvPr/>
        </p:nvSpPr>
        <p:spPr>
          <a:xfrm>
            <a:off x="5943600" y="3108960"/>
            <a:ext cx="411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56"/>
          <p:cNvSpPr/>
          <p:nvPr/>
        </p:nvSpPr>
        <p:spPr>
          <a:xfrm>
            <a:off x="6181344" y="1920240"/>
            <a:ext cx="2651760" cy="338328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56"/>
          <p:cNvSpPr/>
          <p:nvPr/>
        </p:nvSpPr>
        <p:spPr>
          <a:xfrm>
            <a:off x="7164324" y="2194560"/>
            <a:ext cx="685800" cy="685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PaperPlane" id="1236" name="Google Shape;1236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8916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56"/>
          <p:cNvSpPr/>
          <p:nvPr/>
        </p:nvSpPr>
        <p:spPr>
          <a:xfrm>
            <a:off x="6364224" y="2148840"/>
            <a:ext cx="384048" cy="384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6"/>
          <p:cNvSpPr txBox="1"/>
          <p:nvPr/>
        </p:nvSpPr>
        <p:spPr>
          <a:xfrm>
            <a:off x="6364224" y="2148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56"/>
          <p:cNvSpPr txBox="1"/>
          <p:nvPr/>
        </p:nvSpPr>
        <p:spPr>
          <a:xfrm>
            <a:off x="6364224" y="30632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Page forges a request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6"/>
          <p:cNvSpPr txBox="1"/>
          <p:nvPr/>
        </p:nvSpPr>
        <p:spPr>
          <a:xfrm>
            <a:off x="6409944" y="379476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Silently fires a state-changing request at the site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6"/>
          <p:cNvSpPr txBox="1"/>
          <p:nvPr/>
        </p:nvSpPr>
        <p:spPr>
          <a:xfrm>
            <a:off x="8759952" y="3108960"/>
            <a:ext cx="411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56"/>
          <p:cNvSpPr/>
          <p:nvPr/>
        </p:nvSpPr>
        <p:spPr>
          <a:xfrm>
            <a:off x="8997696" y="1920240"/>
            <a:ext cx="2651760" cy="338328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6"/>
          <p:cNvSpPr/>
          <p:nvPr/>
        </p:nvSpPr>
        <p:spPr>
          <a:xfrm>
            <a:off x="9980676" y="2194560"/>
            <a:ext cx="685800" cy="68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heckCircle" id="1244" name="Google Shape;1244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5268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56"/>
          <p:cNvSpPr/>
          <p:nvPr/>
        </p:nvSpPr>
        <p:spPr>
          <a:xfrm>
            <a:off x="9180576" y="2148840"/>
            <a:ext cx="384048" cy="384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56"/>
          <p:cNvSpPr txBox="1"/>
          <p:nvPr/>
        </p:nvSpPr>
        <p:spPr>
          <a:xfrm>
            <a:off x="9180576" y="2148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56"/>
          <p:cNvSpPr txBox="1"/>
          <p:nvPr/>
        </p:nvSpPr>
        <p:spPr>
          <a:xfrm>
            <a:off x="9180576" y="30632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Site acts as victim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56"/>
          <p:cNvSpPr txBox="1"/>
          <p:nvPr/>
        </p:nvSpPr>
        <p:spPr>
          <a:xfrm>
            <a:off x="9226296" y="379476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 session, so the action is performed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56"/>
          <p:cNvSpPr/>
          <p:nvPr/>
        </p:nvSpPr>
        <p:spPr>
          <a:xfrm>
            <a:off x="548640" y="5532120"/>
            <a:ext cx="11091672" cy="457200"/>
          </a:xfrm>
          <a:prstGeom prst="roundRect">
            <a:avLst>
              <a:gd fmla="val 16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56"/>
          <p:cNvSpPr txBox="1"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attacker never sees the response: CSRF is blind. Its power is in performing the action, not reading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6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57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EXAMPLE</a:t>
            </a:r>
            <a:endParaRPr sz="1200"/>
          </a:p>
        </p:txBody>
      </p:sp>
      <p:sp>
        <p:nvSpPr>
          <p:cNvPr id="1258" name="Google Shape;1258;p57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A request with no anti-CSRF protection</a:t>
            </a:r>
            <a:endParaRPr sz="3200"/>
          </a:p>
        </p:txBody>
      </p:sp>
      <p:sp>
        <p:nvSpPr>
          <p:cNvPr id="1259" name="Google Shape;1259;p57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transfer endpoint checks the session, but nothing proving the request came from the site's own pages.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57"/>
          <p:cNvSpPr/>
          <p:nvPr/>
        </p:nvSpPr>
        <p:spPr>
          <a:xfrm>
            <a:off x="548640" y="2194560"/>
            <a:ext cx="11091672" cy="2286000"/>
          </a:xfrm>
          <a:prstGeom prst="roundRect">
            <a:avLst>
              <a:gd fmla="val 32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57"/>
          <p:cNvSpPr txBox="1"/>
          <p:nvPr/>
        </p:nvSpPr>
        <p:spPr>
          <a:xfrm>
            <a:off x="777240" y="2340864"/>
            <a:ext cx="10634472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vulnerable: acts on any request with a valid session cookie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app.post("/transfer", (req, res) =&gt; {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if (!req.session.user) return res.status(401).end();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bank.transfer(req.session.user, req.body.to, req.body.amount);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// no token proving the request came from our own page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57"/>
          <p:cNvSpPr/>
          <p:nvPr/>
        </p:nvSpPr>
        <p:spPr>
          <a:xfrm>
            <a:off x="548640" y="470916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57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okieBite" id="1264" name="Google Shape;126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914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57"/>
          <p:cNvSpPr txBox="1"/>
          <p:nvPr/>
        </p:nvSpPr>
        <p:spPr>
          <a:xfrm>
            <a:off x="1463040" y="4709160"/>
            <a:ext cx="4343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Session is checked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the cookie is added by the browser on any request, forged or not.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57"/>
          <p:cNvSpPr/>
          <p:nvPr/>
        </p:nvSpPr>
        <p:spPr>
          <a:xfrm>
            <a:off x="6199632" y="470916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57"/>
          <p:cNvSpPr/>
          <p:nvPr/>
        </p:nvSpPr>
        <p:spPr>
          <a:xfrm>
            <a:off x="6428232" y="498348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ExclamationTriangle" id="1268" name="Google Shape;126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9906" y="5115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57"/>
          <p:cNvSpPr txBox="1"/>
          <p:nvPr/>
        </p:nvSpPr>
        <p:spPr>
          <a:xfrm>
            <a:off x="7114032" y="4709160"/>
            <a:ext cx="4343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Nothing proves intent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token or origin check ties the request to the site's own page.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57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8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DELIVERY</a:t>
            </a:r>
            <a:endParaRPr sz="1200"/>
          </a:p>
        </p:txBody>
      </p:sp>
      <p:sp>
        <p:nvSpPr>
          <p:cNvPr id="1277" name="Google Shape;1277;p58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How the forged request is delivered</a:t>
            </a:r>
            <a:endParaRPr sz="3200"/>
          </a:p>
        </p:txBody>
      </p:sp>
      <p:sp>
        <p:nvSpPr>
          <p:cNvPr id="1278" name="Google Shape;1278;p58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victim only has to open the attacker's page while logged in, often no click at all.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8"/>
          <p:cNvSpPr txBox="1"/>
          <p:nvPr/>
        </p:nvSpPr>
        <p:spPr>
          <a:xfrm>
            <a:off x="548640" y="2194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If the action is accepted over GET: one tag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58"/>
          <p:cNvSpPr/>
          <p:nvPr/>
        </p:nvSpPr>
        <p:spPr>
          <a:xfrm>
            <a:off x="548640" y="2514600"/>
            <a:ext cx="11091672" cy="1051560"/>
          </a:xfrm>
          <a:prstGeom prst="roundRect">
            <a:avLst>
              <a:gd fmla="val 695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58"/>
          <p:cNvSpPr txBox="1"/>
          <p:nvPr/>
        </p:nvSpPr>
        <p:spPr>
          <a:xfrm>
            <a:off x="777240" y="2660904"/>
            <a:ext cx="10634472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&lt;!-- fires automatically when the attacker's page loads --&gt;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&lt;img src="https://bank.site/transfer?to=attacker&amp;amount=10000"&gt;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58"/>
          <p:cNvSpPr txBox="1"/>
          <p:nvPr/>
        </p:nvSpPr>
        <p:spPr>
          <a:xfrm>
            <a:off x="548640" y="3749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If the action needs POST: an auto-submitting hidden form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58"/>
          <p:cNvSpPr/>
          <p:nvPr/>
        </p:nvSpPr>
        <p:spPr>
          <a:xfrm>
            <a:off x="548640" y="4069080"/>
            <a:ext cx="11091672" cy="1874520"/>
          </a:xfrm>
          <a:prstGeom prst="roundRect">
            <a:avLst>
              <a:gd fmla="val 390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58"/>
          <p:cNvSpPr txBox="1"/>
          <p:nvPr/>
        </p:nvSpPr>
        <p:spPr>
          <a:xfrm>
            <a:off x="777240" y="4215384"/>
            <a:ext cx="10634472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&lt;form action="https://bank.site/transfer" method="POST" id="f"&gt;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type="hidden" name="to" value="attacker"&gt;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type="hidden" name="amount" value="10000"&gt;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&lt;script&gt;document.getElementById("f").submit();&lt;/script&gt;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8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59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SCOPE</a:t>
            </a:r>
            <a:endParaRPr sz="1200"/>
          </a:p>
        </p:txBody>
      </p:sp>
      <p:sp>
        <p:nvSpPr>
          <p:cNvPr id="1292" name="Google Shape;1292;p59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CSRF needs, and what it cannot do</a:t>
            </a:r>
            <a:endParaRPr sz="3200"/>
          </a:p>
        </p:txBody>
      </p:sp>
      <p:sp>
        <p:nvSpPr>
          <p:cNvPr id="1293" name="Google Shape;1293;p59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Three conditions must hold for CSRF to succeed: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59"/>
          <p:cNvSpPr/>
          <p:nvPr/>
        </p:nvSpPr>
        <p:spPr>
          <a:xfrm>
            <a:off x="548640" y="2148840"/>
            <a:ext cx="3520440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9"/>
          <p:cNvSpPr/>
          <p:nvPr/>
        </p:nvSpPr>
        <p:spPr>
          <a:xfrm>
            <a:off x="804672" y="2377440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okie" id="1296" name="Google Shape;129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46" y="25091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59"/>
          <p:cNvSpPr txBox="1"/>
          <p:nvPr/>
        </p:nvSpPr>
        <p:spPr>
          <a:xfrm>
            <a:off x="804672" y="30175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Cookie-based auth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59"/>
          <p:cNvSpPr txBox="1"/>
          <p:nvPr/>
        </p:nvSpPr>
        <p:spPr>
          <a:xfrm>
            <a:off x="804672" y="34290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action relies on a credential the browser sends automatically.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59"/>
          <p:cNvSpPr/>
          <p:nvPr/>
        </p:nvSpPr>
        <p:spPr>
          <a:xfrm>
            <a:off x="4315968" y="2148840"/>
            <a:ext cx="3520440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59"/>
          <p:cNvSpPr/>
          <p:nvPr/>
        </p:nvSpPr>
        <p:spPr>
          <a:xfrm>
            <a:off x="4572000" y="2377440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Clock" id="1301" name="Google Shape;1301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674" y="25091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59"/>
          <p:cNvSpPr txBox="1"/>
          <p:nvPr/>
        </p:nvSpPr>
        <p:spPr>
          <a:xfrm>
            <a:off x="4572000" y="30175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Active session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59"/>
          <p:cNvSpPr txBox="1"/>
          <p:nvPr/>
        </p:nvSpPr>
        <p:spPr>
          <a:xfrm>
            <a:off x="4572000" y="34290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victim is currently logged in to the target site.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59"/>
          <p:cNvSpPr/>
          <p:nvPr/>
        </p:nvSpPr>
        <p:spPr>
          <a:xfrm>
            <a:off x="8083296" y="2148840"/>
            <a:ext cx="3520440" cy="1783080"/>
          </a:xfrm>
          <a:prstGeom prst="roundRect">
            <a:avLst>
              <a:gd fmla="val 41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59"/>
          <p:cNvSpPr/>
          <p:nvPr/>
        </p:nvSpPr>
        <p:spPr>
          <a:xfrm>
            <a:off x="8339328" y="2377440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ice" id="1306" name="Google Shape;1306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1002" y="25091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59"/>
          <p:cNvSpPr txBox="1"/>
          <p:nvPr/>
        </p:nvSpPr>
        <p:spPr>
          <a:xfrm>
            <a:off x="8339328" y="30175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unguessable value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59"/>
          <p:cNvSpPr txBox="1"/>
          <p:nvPr/>
        </p:nvSpPr>
        <p:spPr>
          <a:xfrm>
            <a:off x="8339328" y="34290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request has no parameter the attacker cannot predict (e.g. a token).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59"/>
          <p:cNvSpPr/>
          <p:nvPr/>
        </p:nvSpPr>
        <p:spPr>
          <a:xfrm>
            <a:off x="548640" y="4160520"/>
            <a:ext cx="11091672" cy="1828800"/>
          </a:xfrm>
          <a:prstGeom prst="roundRect">
            <a:avLst>
              <a:gd fmla="val 4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59"/>
          <p:cNvSpPr txBox="1"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What CSRF cannot 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59"/>
          <p:cNvSpPr txBox="1"/>
          <p:nvPr/>
        </p:nvSpPr>
        <p:spPr>
          <a:xfrm>
            <a:off x="822960" y="480060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✕  Read the response  —  </a:t>
            </a: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it is blind; the attacker never sees returned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59"/>
          <p:cNvSpPr txBox="1"/>
          <p:nvPr/>
        </p:nvSpPr>
        <p:spPr>
          <a:xfrm>
            <a:off x="822960" y="518464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✕  Steal the session value  —  </a:t>
            </a: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the cookie is used by the browser, never exposed to the attacker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59"/>
          <p:cNvSpPr txBox="1"/>
          <p:nvPr/>
        </p:nvSpPr>
        <p:spPr>
          <a:xfrm>
            <a:off x="822960" y="5568696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✕  Beat a valid token  —  </a:t>
            </a: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correct anti-CSRF token blocks it outright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59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60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IMPACT</a:t>
            </a:r>
            <a:endParaRPr sz="1200"/>
          </a:p>
        </p:txBody>
      </p:sp>
      <p:sp>
        <p:nvSpPr>
          <p:cNvPr id="1321" name="Google Shape;1321;p60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Why CSRF matters</a:t>
            </a:r>
            <a:endParaRPr sz="3200"/>
          </a:p>
        </p:txBody>
      </p:sp>
      <p:sp>
        <p:nvSpPr>
          <p:cNvPr id="1322" name="Google Shape;1322;p60"/>
          <p:cNvSpPr/>
          <p:nvPr/>
        </p:nvSpPr>
        <p:spPr>
          <a:xfrm>
            <a:off x="548640" y="182880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60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MoneyBillWave" id="1324" name="Google Shape;132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79" y="22567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60"/>
          <p:cNvSpPr txBox="1"/>
          <p:nvPr/>
        </p:nvSpPr>
        <p:spPr>
          <a:xfrm>
            <a:off x="1645920" y="21031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Unauthorized 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60"/>
          <p:cNvSpPr txBox="1"/>
          <p:nvPr/>
        </p:nvSpPr>
        <p:spPr>
          <a:xfrm>
            <a:off x="868680" y="288036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funds, make purchases, change settings as the victim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60"/>
          <p:cNvSpPr/>
          <p:nvPr/>
        </p:nvSpPr>
        <p:spPr>
          <a:xfrm>
            <a:off x="6172200" y="182880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60"/>
          <p:cNvSpPr/>
          <p:nvPr/>
        </p:nvSpPr>
        <p:spPr>
          <a:xfrm>
            <a:off x="6446520" y="210312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Lock" id="1329" name="Google Shape;1329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139" y="22567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60"/>
          <p:cNvSpPr txBox="1"/>
          <p:nvPr/>
        </p:nvSpPr>
        <p:spPr>
          <a:xfrm>
            <a:off x="7269480" y="21031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Account takeover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60"/>
          <p:cNvSpPr txBox="1"/>
          <p:nvPr/>
        </p:nvSpPr>
        <p:spPr>
          <a:xfrm>
            <a:off x="6492240" y="288036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account email or password, then lock the victim out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60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60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ignInAlt" id="1334" name="Google Shape;1334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579" y="4359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60"/>
          <p:cNvSpPr txBox="1"/>
          <p:nvPr/>
        </p:nvSpPr>
        <p:spPr>
          <a:xfrm>
            <a:off x="1645920" y="420624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Login CSRF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60"/>
          <p:cNvSpPr txBox="1"/>
          <p:nvPr/>
        </p:nvSpPr>
        <p:spPr>
          <a:xfrm>
            <a:off x="868680" y="498348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the victim into an attacker's account so their data is captured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60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60"/>
          <p:cNvSpPr/>
          <p:nvPr/>
        </p:nvSpPr>
        <p:spPr>
          <a:xfrm>
            <a:off x="6446520" y="420624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hield" id="1339" name="Google Shape;1339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139" y="4359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60"/>
          <p:cNvSpPr txBox="1"/>
          <p:nvPr/>
        </p:nvSpPr>
        <p:spPr>
          <a:xfrm>
            <a:off x="7269480" y="420624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Worst for admins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60"/>
          <p:cNvSpPr txBox="1"/>
          <p:nvPr/>
        </p:nvSpPr>
        <p:spPr>
          <a:xfrm>
            <a:off x="6492240" y="498348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Bounded by the victim's rights, severe when the victim is an admin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60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1"/>
          <p:cNvSpPr txBox="1"/>
          <p:nvPr>
            <p:ph type="title"/>
          </p:nvPr>
        </p:nvSpPr>
        <p:spPr>
          <a:xfrm>
            <a:off x="822960" y="274320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chemeClr val="lt1"/>
                </a:solidFill>
              </a:rPr>
              <a:t>Defending against it</a:t>
            </a:r>
            <a:endParaRPr sz="3800"/>
          </a:p>
        </p:txBody>
      </p:sp>
      <p:sp>
        <p:nvSpPr>
          <p:cNvPr id="1349" name="Google Shape;1349;p61"/>
          <p:cNvSpPr txBox="1"/>
          <p:nvPr>
            <p:ph idx="1" type="body"/>
          </p:nvPr>
        </p:nvSpPr>
        <p:spPr>
          <a:xfrm>
            <a:off x="822960" y="42062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</a:rPr>
              <a:t>Prove the request came from your own page</a:t>
            </a:r>
            <a:endParaRPr sz="1800"/>
          </a:p>
        </p:txBody>
      </p:sp>
      <p:sp>
        <p:nvSpPr>
          <p:cNvPr id="1350" name="Google Shape;1350;p61"/>
          <p:cNvSpPr/>
          <p:nvPr/>
        </p:nvSpPr>
        <p:spPr>
          <a:xfrm>
            <a:off x="8732520" y="1920240"/>
            <a:ext cx="2651760" cy="2651760"/>
          </a:xfrm>
          <a:prstGeom prst="ellipse">
            <a:avLst/>
          </a:prstGeom>
          <a:solidFill>
            <a:schemeClr val="dk2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hieldAlt" id="1351" name="Google Shape;135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0" y="260604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61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62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THE CORE FIX</a:t>
            </a:r>
            <a:endParaRPr sz="1200"/>
          </a:p>
        </p:txBody>
      </p:sp>
      <p:sp>
        <p:nvSpPr>
          <p:cNvPr id="1359" name="Google Shape;1359;p62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Anti-CSRF tokens (synchronizer token)</a:t>
            </a:r>
            <a:endParaRPr sz="3200"/>
          </a:p>
        </p:txBody>
      </p:sp>
      <p:sp>
        <p:nvSpPr>
          <p:cNvPr id="1360" name="Google Shape;1360;p62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 a secret, unpredictable token in your own forms; require and verify it on every state-changing request.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62"/>
          <p:cNvSpPr txBox="1"/>
          <p:nvPr/>
        </p:nvSpPr>
        <p:spPr>
          <a:xfrm>
            <a:off x="548640" y="2240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Server issues a token in its form, and checks it on submit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62"/>
          <p:cNvSpPr/>
          <p:nvPr/>
        </p:nvSpPr>
        <p:spPr>
          <a:xfrm>
            <a:off x="548640" y="2560320"/>
            <a:ext cx="11091672" cy="1920240"/>
          </a:xfrm>
          <a:prstGeom prst="roundRect">
            <a:avLst>
              <a:gd fmla="val 38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62"/>
          <p:cNvSpPr txBox="1"/>
          <p:nvPr/>
        </p:nvSpPr>
        <p:spPr>
          <a:xfrm>
            <a:off x="777240" y="2706624"/>
            <a:ext cx="10634472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&lt;!-- the site's own transfer form carries a per-session token --&gt;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type="hidden" name="csrf" value="{{ csrfToken }}"&gt;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// server rejects any request whose token is missing or wrong: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(req.body.csrf !== req.session.csrfToken) return res.status(403).end();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62"/>
          <p:cNvSpPr/>
          <p:nvPr/>
        </p:nvSpPr>
        <p:spPr>
          <a:xfrm>
            <a:off x="548640" y="470916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62"/>
          <p:cNvSpPr/>
          <p:nvPr/>
        </p:nvSpPr>
        <p:spPr>
          <a:xfrm>
            <a:off x="822960" y="4983480"/>
            <a:ext cx="594360" cy="5943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Key" id="1366" name="Google Shape;13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606" y="512612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62"/>
          <p:cNvSpPr txBox="1"/>
          <p:nvPr/>
        </p:nvSpPr>
        <p:spPr>
          <a:xfrm>
            <a:off x="1600200" y="4709160"/>
            <a:ext cx="9829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Why it works:  </a:t>
            </a: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token is unpredictable and is not attached automatically by the browser. An attacker's page cannot read or guess it, so a forged request arrives without a valid token and is rejected.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62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63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DEFENSES</a:t>
            </a:r>
            <a:endParaRPr sz="1200"/>
          </a:p>
        </p:txBody>
      </p:sp>
      <p:sp>
        <p:nvSpPr>
          <p:cNvPr id="1375" name="Google Shape;1375;p63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The defense hierarchy</a:t>
            </a:r>
            <a:endParaRPr sz="3200"/>
          </a:p>
        </p:txBody>
      </p:sp>
      <p:sp>
        <p:nvSpPr>
          <p:cNvPr id="1376" name="Google Shape;1376;p63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63"/>
          <p:cNvSpPr/>
          <p:nvPr/>
        </p:nvSpPr>
        <p:spPr>
          <a:xfrm>
            <a:off x="777240" y="2039112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63"/>
          <p:cNvSpPr txBox="1"/>
          <p:nvPr/>
        </p:nvSpPr>
        <p:spPr>
          <a:xfrm>
            <a:off x="777240" y="2039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63"/>
          <p:cNvSpPr/>
          <p:nvPr/>
        </p:nvSpPr>
        <p:spPr>
          <a:xfrm>
            <a:off x="1463040" y="2039112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Key" id="1380" name="Google Shape;138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768" y="2148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63"/>
          <p:cNvSpPr txBox="1"/>
          <p:nvPr/>
        </p:nvSpPr>
        <p:spPr>
          <a:xfrm>
            <a:off x="2148840" y="1783080"/>
            <a:ext cx="3429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Anti-CSRF tokens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63"/>
          <p:cNvSpPr txBox="1"/>
          <p:nvPr/>
        </p:nvSpPr>
        <p:spPr>
          <a:xfrm>
            <a:off x="5715000" y="1783080"/>
            <a:ext cx="5715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synchronizer token the attacker cannot predict. The primary, decisive fix.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63"/>
          <p:cNvSpPr/>
          <p:nvPr/>
        </p:nvSpPr>
        <p:spPr>
          <a:xfrm>
            <a:off x="548640" y="2862072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63"/>
          <p:cNvSpPr/>
          <p:nvPr/>
        </p:nvSpPr>
        <p:spPr>
          <a:xfrm>
            <a:off x="548640" y="2862072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63"/>
          <p:cNvSpPr/>
          <p:nvPr/>
        </p:nvSpPr>
        <p:spPr>
          <a:xfrm>
            <a:off x="777240" y="3118104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63"/>
          <p:cNvSpPr txBox="1"/>
          <p:nvPr/>
        </p:nvSpPr>
        <p:spPr>
          <a:xfrm>
            <a:off x="777240" y="3118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63"/>
          <p:cNvSpPr/>
          <p:nvPr/>
        </p:nvSpPr>
        <p:spPr>
          <a:xfrm>
            <a:off x="1463040" y="3118104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okie" id="1388" name="Google Shape;1388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2768" y="322783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63"/>
          <p:cNvSpPr txBox="1"/>
          <p:nvPr/>
        </p:nvSpPr>
        <p:spPr>
          <a:xfrm>
            <a:off x="2148840" y="2862072"/>
            <a:ext cx="3429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SameSite cookies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63"/>
          <p:cNvSpPr txBox="1"/>
          <p:nvPr/>
        </p:nvSpPr>
        <p:spPr>
          <a:xfrm>
            <a:off x="5715000" y="2862072"/>
            <a:ext cx="5715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Lax or Strict stops the cookie being sent on cross-site requests. On by default now.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63"/>
          <p:cNvSpPr/>
          <p:nvPr/>
        </p:nvSpPr>
        <p:spPr>
          <a:xfrm>
            <a:off x="548640" y="3941064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63"/>
          <p:cNvSpPr/>
          <p:nvPr/>
        </p:nvSpPr>
        <p:spPr>
          <a:xfrm>
            <a:off x="548640" y="3941064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63"/>
          <p:cNvSpPr/>
          <p:nvPr/>
        </p:nvSpPr>
        <p:spPr>
          <a:xfrm>
            <a:off x="777240" y="4197096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63"/>
          <p:cNvSpPr txBox="1"/>
          <p:nvPr/>
        </p:nvSpPr>
        <p:spPr>
          <a:xfrm>
            <a:off x="777240" y="4197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63"/>
          <p:cNvSpPr/>
          <p:nvPr/>
        </p:nvSpPr>
        <p:spPr>
          <a:xfrm>
            <a:off x="1463040" y="4197096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Check" id="1396" name="Google Shape;1396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2768" y="43068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63"/>
          <p:cNvSpPr txBox="1"/>
          <p:nvPr/>
        </p:nvSpPr>
        <p:spPr>
          <a:xfrm>
            <a:off x="2148840" y="3941064"/>
            <a:ext cx="3429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Re-auth sensitive actions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63"/>
          <p:cNvSpPr txBox="1"/>
          <p:nvPr/>
        </p:nvSpPr>
        <p:spPr>
          <a:xfrm>
            <a:off x="5715000" y="3941064"/>
            <a:ext cx="5715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 a password or re-login for high-value actions (transfers, email change).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63"/>
          <p:cNvSpPr/>
          <p:nvPr/>
        </p:nvSpPr>
        <p:spPr>
          <a:xfrm>
            <a:off x="548640" y="5020056"/>
            <a:ext cx="11091672" cy="960120"/>
          </a:xfrm>
          <a:prstGeom prst="roundRect">
            <a:avLst>
              <a:gd fmla="val 76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63"/>
          <p:cNvSpPr/>
          <p:nvPr/>
        </p:nvSpPr>
        <p:spPr>
          <a:xfrm>
            <a:off x="548640" y="5020056"/>
            <a:ext cx="11091672" cy="960120"/>
          </a:xfrm>
          <a:prstGeom prst="roundRect">
            <a:avLst>
              <a:gd fmla="val 7619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63"/>
          <p:cNvSpPr/>
          <p:nvPr/>
        </p:nvSpPr>
        <p:spPr>
          <a:xfrm>
            <a:off x="777240" y="527608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63"/>
          <p:cNvSpPr txBox="1"/>
          <p:nvPr/>
        </p:nvSpPr>
        <p:spPr>
          <a:xfrm>
            <a:off x="777240" y="5276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63"/>
          <p:cNvSpPr/>
          <p:nvPr/>
        </p:nvSpPr>
        <p:spPr>
          <a:xfrm>
            <a:off x="1463040" y="527608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an" id="1404" name="Google Shape;1404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2768" y="53858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63"/>
          <p:cNvSpPr txBox="1"/>
          <p:nvPr/>
        </p:nvSpPr>
        <p:spPr>
          <a:xfrm>
            <a:off x="2148840" y="5020056"/>
            <a:ext cx="3429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No state-changing GET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63"/>
          <p:cNvSpPr txBox="1"/>
          <p:nvPr/>
        </p:nvSpPr>
        <p:spPr>
          <a:xfrm>
            <a:off x="5715000" y="5020056"/>
            <a:ext cx="5715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POST/PUT/DELETE for actions; a GET is trivially forged with an &lt;img&gt; tag.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63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Tokens first; SameSite, re-auth and safe HTTP methods reinforce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63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64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DEFENSES</a:t>
            </a:r>
            <a:endParaRPr sz="1200"/>
          </a:p>
        </p:txBody>
      </p:sp>
      <p:sp>
        <p:nvSpPr>
          <p:cNvPr id="1415" name="Google Shape;1415;p64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Pitfalls that leave the gap open</a:t>
            </a:r>
            <a:endParaRPr sz="3200"/>
          </a:p>
        </p:txBody>
      </p:sp>
      <p:sp>
        <p:nvSpPr>
          <p:cNvPr id="1416" name="Google Shape;1416;p64"/>
          <p:cNvSpPr txBox="1"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mistakes that re-open the gap: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64"/>
          <p:cNvSpPr/>
          <p:nvPr/>
        </p:nvSpPr>
        <p:spPr>
          <a:xfrm>
            <a:off x="548640" y="219456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64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1419" name="Google Shape;141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26353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64"/>
          <p:cNvSpPr txBox="1"/>
          <p:nvPr/>
        </p:nvSpPr>
        <p:spPr>
          <a:xfrm>
            <a:off x="1417320" y="2240280"/>
            <a:ext cx="4434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State-changing GET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GET action is forgeable with one &lt;img&gt; tag and bypasses many defenses.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64"/>
          <p:cNvSpPr/>
          <p:nvPr/>
        </p:nvSpPr>
        <p:spPr>
          <a:xfrm>
            <a:off x="6172200" y="219456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64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1423" name="Google Shape;142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1501" y="26353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64"/>
          <p:cNvSpPr txBox="1"/>
          <p:nvPr/>
        </p:nvSpPr>
        <p:spPr>
          <a:xfrm>
            <a:off x="7040880" y="2240280"/>
            <a:ext cx="4434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Referer/Origin 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Those headers may be absent or stripped; alone they are a weak check.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64"/>
          <p:cNvSpPr/>
          <p:nvPr/>
        </p:nvSpPr>
        <p:spPr>
          <a:xfrm>
            <a:off x="548640" y="356616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64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1427" name="Google Shape;142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40069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64"/>
          <p:cNvSpPr txBox="1"/>
          <p:nvPr/>
        </p:nvSpPr>
        <p:spPr>
          <a:xfrm>
            <a:off x="1417320" y="3611880"/>
            <a:ext cx="4434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Token in a cookie 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token rides along automatically like the session, it proves nothing.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64"/>
          <p:cNvSpPr/>
          <p:nvPr/>
        </p:nvSpPr>
        <p:spPr>
          <a:xfrm>
            <a:off x="6172200" y="3566160"/>
            <a:ext cx="5440680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64"/>
          <p:cNvSpPr/>
          <p:nvPr/>
        </p:nvSpPr>
        <p:spPr>
          <a:xfrm>
            <a:off x="6400800" y="388620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imesCircle" id="1431" name="Google Shape;143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1501" y="40069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64"/>
          <p:cNvSpPr txBox="1"/>
          <p:nvPr/>
        </p:nvSpPr>
        <p:spPr>
          <a:xfrm>
            <a:off x="7040880" y="3611880"/>
            <a:ext cx="4434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Forgetting login CSRF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a token on the login form, a victim can be logged into an attacker's account.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64"/>
          <p:cNvSpPr/>
          <p:nvPr/>
        </p:nvSpPr>
        <p:spPr>
          <a:xfrm>
            <a:off x="548640" y="5029200"/>
            <a:ext cx="11091672" cy="457200"/>
          </a:xfrm>
          <a:prstGeom prst="roundRect">
            <a:avLst>
              <a:gd fmla="val 16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64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rule: token on every state-changing request  +  SameSite cookies  +  POST, never GET, for actions.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64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65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DEFENSE IN DEPTH</a:t>
            </a:r>
            <a:endParaRPr sz="1200"/>
          </a:p>
        </p:txBody>
      </p:sp>
      <p:sp>
        <p:nvSpPr>
          <p:cNvPr id="1442" name="Google Shape;1442;p65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What defenders can watch for</a:t>
            </a:r>
            <a:endParaRPr sz="3200"/>
          </a:p>
        </p:txBody>
      </p:sp>
      <p:sp>
        <p:nvSpPr>
          <p:cNvPr id="1443" name="Google Shape;1443;p65"/>
          <p:cNvSpPr/>
          <p:nvPr/>
        </p:nvSpPr>
        <p:spPr>
          <a:xfrm>
            <a:off x="548640" y="18288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65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Key" id="1445" name="Google Shape;144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634" y="22805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65"/>
          <p:cNvSpPr txBox="1"/>
          <p:nvPr/>
        </p:nvSpPr>
        <p:spPr>
          <a:xfrm>
            <a:off x="1600200" y="1828800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Missing or invalid tokens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65"/>
          <p:cNvSpPr txBox="1"/>
          <p:nvPr/>
        </p:nvSpPr>
        <p:spPr>
          <a:xfrm>
            <a:off x="5943600" y="182880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State-changing requests without a valid anti-CSRF token: reject and log them.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65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65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fmla="val 6154" name="adj"/>
            </a:avLst>
          </a:prstGeom>
          <a:noFill/>
          <a:ln cap="flat" cmpd="sng" w="12700">
            <a:solidFill>
              <a:srgbClr val="D9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65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Globe" id="1451" name="Google Shape;1451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634" y="36521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65"/>
          <p:cNvSpPr txBox="1"/>
          <p:nvPr/>
        </p:nvSpPr>
        <p:spPr>
          <a:xfrm>
            <a:off x="1600200" y="3200400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Cross-site Origin / Referer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65"/>
          <p:cNvSpPr txBox="1"/>
          <p:nvPr/>
        </p:nvSpPr>
        <p:spPr>
          <a:xfrm>
            <a:off x="5943600" y="320040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sensitive action whose Origin or Referer is another site is suspicious.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65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65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hartLine" id="1456" name="Google Shape;1456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34" y="5023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65"/>
          <p:cNvSpPr txBox="1"/>
          <p:nvPr/>
        </p:nvSpPr>
        <p:spPr>
          <a:xfrm>
            <a:off x="1600200" y="4572000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Spikes of identical 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65"/>
          <p:cNvSpPr txBox="1"/>
          <p:nvPr/>
        </p:nvSpPr>
        <p:spPr>
          <a:xfrm>
            <a:off x="5943600" y="457200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users performing the same sensitive action can signal a CSRF campaign.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65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66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66"/>
          <p:cNvSpPr txBox="1"/>
          <p:nvPr/>
        </p:nvSpPr>
        <p:spPr>
          <a:xfrm>
            <a:off x="822960" y="10972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66"/>
          <p:cNvSpPr/>
          <p:nvPr/>
        </p:nvSpPr>
        <p:spPr>
          <a:xfrm>
            <a:off x="9144000" y="868680"/>
            <a:ext cx="2194560" cy="2194560"/>
          </a:xfrm>
          <a:prstGeom prst="ellipse">
            <a:avLst/>
          </a:prstGeom>
          <a:solidFill>
            <a:srgbClr val="16243D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xchange" id="1468" name="Google Shape;146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8360" y="146304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66"/>
          <p:cNvSpPr txBox="1"/>
          <p:nvPr/>
        </p:nvSpPr>
        <p:spPr>
          <a:xfrm>
            <a:off x="822960" y="3246120"/>
            <a:ext cx="10515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CSRF tricks a logged-in victim's browser into sending a forged state-changing request (CWE-352).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Root cause: the browser attaches the session cookie automatically, a confused-deputy problem.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is blind: CSRF performs actions as the victim but cannot read responses or steal the session.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Delivered by a page the victim opens while logged in: an &lt;img&gt; tag for GET, a hidden form for POST.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Fix with anti-CSRF tokens, plus SameSite cookies, re-auth for sensitive actions, and no GET for actions.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66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IT-30001 Cyber Security  ·  Module 3  ·  Web Server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67"/>
          <p:cNvSpPr txBox="1"/>
          <p:nvPr>
            <p:ph idx="1" type="body"/>
          </p:nvPr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b="1" lang="en-US" sz="1200">
                <a:solidFill>
                  <a:schemeClr val="accent1"/>
                </a:solidFill>
              </a:rPr>
              <a:t>WRAP-UP</a:t>
            </a:r>
            <a:endParaRPr sz="1200"/>
          </a:p>
        </p:txBody>
      </p:sp>
      <p:sp>
        <p:nvSpPr>
          <p:cNvPr id="1477" name="Google Shape;1477;p67"/>
          <p:cNvSpPr txBox="1"/>
          <p:nvPr>
            <p:ph type="title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The four attacks side by side</a:t>
            </a:r>
            <a:endParaRPr sz="3200"/>
          </a:p>
        </p:txBody>
      </p:sp>
      <p:graphicFrame>
        <p:nvGraphicFramePr>
          <p:cNvPr id="1478" name="Google Shape;1478;p67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{64901A4B-B1C0-4A90-844B-E4A0DC7FD885}</a:tableStyleId>
              </a:tblPr>
              <a:tblGrid>
                <a:gridCol w="2834650"/>
                <a:gridCol w="2926075"/>
                <a:gridCol w="2286000"/>
                <a:gridCol w="30449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Attack</a:t>
                      </a:r>
                      <a:endParaRPr sz="15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Input escapes into</a:t>
                      </a:r>
                      <a:endParaRPr sz="15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Victim</a:t>
                      </a:r>
                      <a:endParaRPr sz="15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Core fix</a:t>
                      </a:r>
                      <a:endParaRPr sz="15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SQL Injection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the database query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the server / DB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Parameterized queries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OS Command Injection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the OS shell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the server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Parameterized execution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Cross-Site Scripting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a web page (HTML / JS)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another user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Context-aware output encoding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Cross-Site Request Forgery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(rides the session)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the user's session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Anti-CSRF tokens</a:t>
                      </a:r>
                      <a:endParaRPr sz="1400" u="none" cap="none" strike="noStrike"/>
                    </a:p>
                  </a:txBody>
                  <a:tcPr marT="73150" marB="73150" marR="109725" marL="109725" anchor="ctr">
                    <a:lnL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79" name="Google Shape;1479;p67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67"/>
          <p:cNvSpPr/>
          <p:nvPr/>
        </p:nvSpPr>
        <p:spPr>
          <a:xfrm>
            <a:off x="822960" y="557784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Key" id="1481" name="Google Shape;148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023" y="5713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67"/>
          <p:cNvSpPr txBox="1"/>
          <p:nvPr/>
        </p:nvSpPr>
        <p:spPr>
          <a:xfrm>
            <a:off x="1600200" y="5440680"/>
            <a:ext cx="9829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One idea runs through all four:  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keep untrusted input as data, never let it become code, and prove a request's intent.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67"/>
          <p:cNvSpPr txBox="1"/>
          <p:nvPr>
            <p:ph idx="4294967295" type="sldNum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ule3WebSec">
  <a:themeElements>
    <a:clrScheme name="Module3WebSec">
      <a:dk1>
        <a:srgbClr val="1A1F2B"/>
      </a:dk1>
      <a:lt1>
        <a:srgbClr val="FFFFFF"/>
      </a:lt1>
      <a:dk2>
        <a:srgbClr val="16243D"/>
      </a:dk2>
      <a:lt2>
        <a:srgbClr val="EEF2F7"/>
      </a:lt2>
      <a:accent1>
        <a:srgbClr val="C9A227"/>
      </a:accent1>
      <a:accent2>
        <a:srgbClr val="2E5C8A"/>
      </a:accent2>
      <a:accent3>
        <a:srgbClr val="B5442F"/>
      </a:accent3>
      <a:accent4>
        <a:srgbClr val="5A6B85"/>
      </a:accent4>
      <a:accent5>
        <a:srgbClr val="2F7D5B"/>
      </a:accent5>
      <a:accent6>
        <a:srgbClr val="D9E2EE"/>
      </a:accent6>
      <a:hlink>
        <a:srgbClr val="2E5C8A"/>
      </a:hlink>
      <a:folHlink>
        <a:srgbClr val="5A6B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ule3WebSec">
  <a:themeElements>
    <a:clrScheme name="Module3WebSec">
      <a:dk1>
        <a:srgbClr val="1A1F2B"/>
      </a:dk1>
      <a:lt1>
        <a:srgbClr val="FFFFFF"/>
      </a:lt1>
      <a:dk2>
        <a:srgbClr val="16243D"/>
      </a:dk2>
      <a:lt2>
        <a:srgbClr val="EEF2F7"/>
      </a:lt2>
      <a:accent1>
        <a:srgbClr val="C9A227"/>
      </a:accent1>
      <a:accent2>
        <a:srgbClr val="2E5C8A"/>
      </a:accent2>
      <a:accent3>
        <a:srgbClr val="B5442F"/>
      </a:accent3>
      <a:accent4>
        <a:srgbClr val="5A6B85"/>
      </a:accent4>
      <a:accent5>
        <a:srgbClr val="2F7D5B"/>
      </a:accent5>
      <a:accent6>
        <a:srgbClr val="D9E2EE"/>
      </a:accent6>
      <a:hlink>
        <a:srgbClr val="2E5C8A"/>
      </a:hlink>
      <a:folHlink>
        <a:srgbClr val="5A6B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2026-10-20T13:03:19Z</dcterms:created>
  <dc:creator>Dr. Soumyadev Maity</dc:creator>
</cp:coreProperties>
</file>